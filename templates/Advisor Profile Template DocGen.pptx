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7"/>
  </p:notesMasterIdLst>
  <p:handoutMasterIdLst>
    <p:handoutMasterId r:id="rId8"/>
  </p:handoutMasterIdLst>
  <p:sldIdLst>
    <p:sldId id="2140757925" r:id="rId5"/>
    <p:sldId id="2140757926" r:id="rId6"/>
  </p:sldIdLst>
  <p:sldSz cx="12192000" cy="6858000"/>
  <p:notesSz cx="6808788" cy="99409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31" userDrawn="1">
          <p15:clr>
            <a:srgbClr val="A4A3A4"/>
          </p15:clr>
        </p15:guide>
        <p15:guide id="2" pos="2145"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54EF803-428D-62FD-3F1E-481C2865CC17}" name="Seal Llego" initials="SL" userId="S::s.llego@sheffieldhaworth.com::477c438a-e30e-4b40-90df-78c24ad56b5f" providerId="AD"/>
  <p188:author id="{6F9BDA51-B1AE-9B2E-29F3-723054EBCAB1}" name="Toby Calder" initials="TC" userId="S::t.calder@sheffieldhaworth.com::28c243c1-830c-4ea0-a89c-8c28bc0ec6f1" providerId="AD"/>
  <p188:author id="{9CBE3B74-EE0F-3137-C8FE-0870AD2371C6}" name="Adriaan Hugo" initials="AH" userId="S::a.hugo@sheffieldhaworth.com::92288ce7-6c58-4acc-aa1d-cc4e2ceb9f97" providerId="AD"/>
  <p188:author id="{5061EA79-6A1B-95F0-AD06-1F34F7178D57}" name="Frances Wright" initials="FW" userId="S::f.wright@sheffieldhaworth.com::3125d111-e9c0-4794-88d9-0c70b0c9d8b2" providerId="AD"/>
  <p188:author id="{7ED1D47C-14F8-160B-9B67-E9576CDE733A}" name="Roger Flory" initials="RF" userId="S::r.flory@sheffieldhaworth.com::6379e3fd-b026-4fc3-8f58-bbbbdd2a7874" providerId="AD"/>
  <p188:author id="{47FFBD84-EAD3-6075-3F4B-A9E1158247FA}" name="Adriaan Hugo" initials="" userId="S::A.Hugo@sheffieldhaworth.com::92288ce7-6c58-4acc-aa1d-cc4e2ceb9f97" providerId="AD"/>
  <p188:author id="{5F54D0AC-FBC8-0A4F-D5CA-03F2465CE5FB}" name="Chris Kapsalis" initials="CK" userId="S::c.kapsalis@sheffieldhaworth.com::1a709cd6-afa6-4ecd-ad91-f55dc9453249" providerId="AD"/>
  <p188:author id="{265156C8-B601-491F-9EB3-030A40A74C7D}" name="Gareth Burden" initials="GB" userId="S::g.burden@sheffieldhaworth.com::4c5c1413-cd10-438b-8510-8faa6b875a47" providerId="AD"/>
  <p188:author id="{1B0B76C9-F144-BC86-3A54-B15318AA1E72}" name="Samuel Shipp" initials="SS" userId="S::s.shipp@sheffieldhaworth.com::68c97247-92ef-4b1c-b465-82806c965376" providerId="AD"/>
  <p188:author id="{27D691D4-F202-0996-79E8-3EB60685D1B4}" name="Maria Merkou" initials="MM" userId="S::m.merkou@sheffieldhaworth.com::0fbaa89b-04ad-4a57-b515-b05639967a17" providerId="AD"/>
  <p188:author id="{6FC5DAD6-4C5E-C0DF-E3A0-B1E2D00727AD}" name="Debbie Gazzard" initials="DG" userId="S::d.gazzard@sheffieldhaworth.com::54a6ee3e-80f3-4890-a25f-631595999308" providerId="AD"/>
  <p188:author id="{0C04FDDC-3671-F7E6-7419-869746122BE3}" name="Chris Kapsalis" initials="CK" userId="S::C.kapsalis@sheffieldhaworth.com::1a709cd6-afa6-4ecd-ad91-f55dc9453249" providerId="AD"/>
  <p188:author id="{DB18A2DD-C8FB-5D05-365F-FF4546B11ABB}" name="Toby Enstone" initials="TE" userId="S::t.enstone@sheffieldhaworth.com::e3afc506-0656-4532-9c2b-9ea283dd257c" providerId="AD"/>
  <p188:author id="{68BB8CF2-C6AE-CE0D-7CF6-D4E3D42FA02D}" name="Terry Sambridge" initials="TS" userId="S::t.sambridge@sheffieldhaworth.com::7401f427-3f89-4430-8923-7760386c881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0000"/>
    <a:srgbClr val="4699C3"/>
    <a:srgbClr val="B5E5F7"/>
    <a:srgbClr val="F5FAFD"/>
    <a:srgbClr val="2C2E82"/>
    <a:srgbClr val="59197A"/>
    <a:srgbClr val="F4F3FB"/>
    <a:srgbClr val="163B45"/>
    <a:srgbClr val="245A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1}">
  <a:tblStyle styleId="{5C22544A-7EE6-4342-B048-85BDC9FD1C31}" styleName="SH Styl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rgbClr val="EEEBFB"/>
          </a:solidFill>
        </a:fill>
      </a:tcStyle>
    </a:band1H>
    <a:band2H>
      <a:tcStyle>
        <a:tcBdr/>
        <a:fill>
          <a:solidFill>
            <a:srgbClr val="EEEBFB"/>
          </a:solidFill>
        </a:fill>
      </a:tcStyle>
    </a:band2H>
    <a:band1V>
      <a:tcStyle>
        <a:tcBdr/>
        <a:fill>
          <a:solidFill>
            <a:srgbClr val="EEEBFB"/>
          </a:solidFill>
        </a:fill>
      </a:tcStyle>
    </a:band1V>
    <a:band2V>
      <a:tcStyle>
        <a:tcBdr/>
        <a:fill>
          <a:solidFill>
            <a:srgbClr val="EEEBFB"/>
          </a:solidFill>
        </a:fill>
      </a:tcStyle>
    </a:band2V>
    <a:lastCol>
      <a:tcTxStyle b="on">
        <a:fontRef idx="minor">
          <a:prstClr val="black"/>
        </a:fontRef>
        <a:schemeClr val="lt1"/>
      </a:tcTxStyle>
      <a:tcStyle>
        <a:tcBdr/>
        <a:fill>
          <a:solidFill>
            <a:srgbClr val="EEEBFB"/>
          </a:solidFill>
        </a:fill>
      </a:tcStyle>
    </a:lastCol>
    <a:firstCol>
      <a:tcTxStyle b="on">
        <a:fontRef idx="minor">
          <a:prstClr val="black"/>
        </a:fontRef>
        <a:schemeClr val="lt1"/>
      </a:tcTxStyle>
      <a:tcStyle>
        <a:tcBdr/>
        <a:fill>
          <a:solidFill>
            <a:srgbClr val="EEEBFB"/>
          </a:solidFill>
        </a:fill>
      </a:tcStyle>
    </a:firstCol>
    <a:lastRow>
      <a:tcTxStyle b="on">
        <a:fontRef idx="minor">
          <a:prstClr val="black"/>
        </a:fontRef>
        <a:schemeClr val="lt1"/>
      </a:tcTxStyle>
      <a:tcStyle>
        <a:tcBdr>
          <a:top>
            <a:ln w="38100" cmpd="sng">
              <a:solidFill>
                <a:srgbClr val="EEEBFB"/>
              </a:solidFill>
            </a:ln>
          </a:top>
        </a:tcBdr>
        <a:fill>
          <a:solidFill>
            <a:srgbClr val="EEEBFB"/>
          </a:solidFill>
        </a:fill>
      </a:tcStyle>
    </a:lastRow>
    <a:firstRow>
      <a:tcTxStyle b="on">
        <a:fontRef idx="minor">
          <a:prstClr val="black"/>
        </a:fontRef>
        <a:schemeClr val="lt1"/>
      </a:tcTxStyle>
      <a:tcStyle>
        <a:tcBdr>
          <a:bottom>
            <a:ln w="38100" cmpd="sng">
              <a:solidFill>
                <a:srgbClr val="EEEBFB"/>
              </a:solidFill>
            </a:ln>
          </a:bottom>
        </a:tcBdr>
        <a:fill>
          <a:solidFill>
            <a:srgbClr val="7030A0"/>
          </a:solidFill>
        </a:fill>
      </a:tcStyle>
    </a:firstRow>
  </a:tblStyle>
  <a:tblStyle styleId="{0817EA92-75D0-4044-A80A-286907CE0DD2}" styleName="SH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rgbClr val="EEEBFB"/>
          </a:solidFill>
        </a:fill>
      </a:tcStyle>
    </a:band1H>
    <a:band2H>
      <a:tcStyle>
        <a:tcBdr/>
        <a:fill>
          <a:solidFill>
            <a:srgbClr val="EEEBFB"/>
          </a:solidFill>
        </a:fill>
      </a:tcStyle>
    </a:band2H>
    <a:band1V>
      <a:tcStyle>
        <a:tcBdr/>
        <a:fill>
          <a:solidFill>
            <a:srgbClr val="EEEBFB"/>
          </a:solidFill>
        </a:fill>
      </a:tcStyle>
    </a:band1V>
    <a:band2V>
      <a:tcStyle>
        <a:tcBdr/>
        <a:fill>
          <a:solidFill>
            <a:srgbClr val="EEEBFB"/>
          </a:solidFill>
        </a:fill>
      </a:tcStyle>
    </a:band2V>
    <a:lastCol>
      <a:tcTxStyle b="on">
        <a:fontRef idx="minor">
          <a:prstClr val="black"/>
        </a:fontRef>
        <a:schemeClr val="lt1"/>
      </a:tcTxStyle>
      <a:tcStyle>
        <a:tcBdr/>
        <a:fill>
          <a:solidFill>
            <a:srgbClr val="EEEBFB"/>
          </a:solidFill>
        </a:fill>
      </a:tcStyle>
    </a:lastCol>
    <a:firstCol>
      <a:tcTxStyle b="on">
        <a:fontRef idx="minor">
          <a:prstClr val="black"/>
        </a:fontRef>
        <a:schemeClr val="lt1"/>
      </a:tcTxStyle>
      <a:tcStyle>
        <a:tcBdr/>
        <a:fill>
          <a:solidFill>
            <a:srgbClr val="EEEBFB"/>
          </a:solidFill>
        </a:fill>
      </a:tcStyle>
    </a:firstCol>
    <a:lastRow>
      <a:tcTxStyle b="on">
        <a:fontRef idx="minor">
          <a:prstClr val="black"/>
        </a:fontRef>
        <a:schemeClr val="lt1"/>
      </a:tcTxStyle>
      <a:tcStyle>
        <a:tcBdr>
          <a:top>
            <a:ln w="38100" cmpd="sng">
              <a:solidFill>
                <a:srgbClr val="EEEBFB"/>
              </a:solidFill>
            </a:ln>
          </a:top>
        </a:tcBdr>
        <a:fill>
          <a:solidFill>
            <a:srgbClr val="EEEBFB"/>
          </a:solidFill>
        </a:fill>
      </a:tcStyle>
    </a:lastRow>
    <a:firstRow>
      <a:tcTxStyle b="on">
        <a:fontRef idx="minor">
          <a:prstClr val="black"/>
        </a:fontRef>
        <a:schemeClr val="lt1"/>
      </a:tcTxStyle>
      <a:tcStyle>
        <a:tcBdr>
          <a:bottom>
            <a:ln w="38100" cmpd="sng">
              <a:solidFill>
                <a:srgbClr val="EEEBFB"/>
              </a:solidFill>
            </a:ln>
          </a:bottom>
        </a:tcBdr>
        <a:fill>
          <a:solidFill>
            <a:srgbClr val="2C2E82"/>
          </a:solidFill>
        </a:fill>
      </a:tcStyle>
    </a:firstRow>
  </a:tblStyle>
  <a:tblStyle styleId="{073A0DAA-6AF3-43AB-8588-CEC1D06C72B3}" styleName="SH Styl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rgbClr val="2C2E82"/>
              </a:solidFill>
            </a:ln>
          </a:bottom>
          <a:insideH>
            <a:ln w="0" cmpd="sng">
              <a:solidFill>
                <a:schemeClr val="lt1"/>
              </a:solidFill>
            </a:ln>
          </a:insideH>
          <a:insideV>
            <a:ln w="0" cmpd="sng">
              <a:solidFill>
                <a:schemeClr val="lt1"/>
              </a:solidFill>
            </a:ln>
          </a:insideV>
        </a:tcBdr>
        <a:fill>
          <a:solidFill>
            <a:schemeClr val="accent1">
              <a:tint val="20000"/>
            </a:schemeClr>
          </a:solidFill>
        </a:fill>
      </a:tcStyle>
    </a:wholeTbl>
    <a:band1H>
      <a:tcStyle>
        <a:tcBdr/>
        <a:fill>
          <a:solidFill>
            <a:srgbClr val="EEEBFB"/>
          </a:solidFill>
        </a:fill>
      </a:tcStyle>
    </a:band1H>
    <a:band2H>
      <a:tcStyle>
        <a:tcBdr/>
        <a:fill>
          <a:solidFill>
            <a:srgbClr val="EEEBFB"/>
          </a:solidFill>
        </a:fill>
      </a:tcStyle>
    </a:band2H>
    <a:band1V>
      <a:tcStyle>
        <a:tcBdr/>
        <a:fill>
          <a:solidFill>
            <a:srgbClr val="EEEBFB"/>
          </a:solidFill>
        </a:fill>
      </a:tcStyle>
    </a:band1V>
    <a:band2V>
      <a:tcStyle>
        <a:tcBdr/>
        <a:fill>
          <a:solidFill>
            <a:srgbClr val="EEEBFB"/>
          </a:solidFill>
        </a:fill>
      </a:tcStyle>
    </a:band2V>
    <a:lastCol>
      <a:tcTxStyle b="on">
        <a:fontRef idx="minor">
          <a:prstClr val="black"/>
        </a:fontRef>
        <a:schemeClr val="lt1"/>
      </a:tcTxStyle>
      <a:tcStyle>
        <a:tcBdr/>
        <a:fill>
          <a:solidFill>
            <a:srgbClr val="EEEBFB"/>
          </a:solidFill>
        </a:fill>
      </a:tcStyle>
    </a:lastCol>
    <a:firstCol>
      <a:tcTxStyle b="on">
        <a:fontRef idx="minor">
          <a:prstClr val="black"/>
        </a:fontRef>
        <a:schemeClr val="lt1"/>
      </a:tcTxStyle>
      <a:tcStyle>
        <a:tcBdr/>
        <a:fill>
          <a:solidFill>
            <a:srgbClr val="EEEBFB"/>
          </a:solidFill>
        </a:fill>
      </a:tcStyle>
    </a:firstCol>
    <a:lastRow>
      <a:tcTxStyle b="on">
        <a:fontRef idx="minor">
          <a:prstClr val="black"/>
        </a:fontRef>
        <a:schemeClr val="lt1"/>
      </a:tcTxStyle>
      <a:tcStyle>
        <a:tcBdr>
          <a:bottom>
            <a:ln w="38100" cmpd="sng">
              <a:solidFill>
                <a:srgbClr val="2C2E82"/>
              </a:solidFill>
            </a:ln>
          </a:bottom>
        </a:tcBdr>
        <a:fill>
          <a:solidFill>
            <a:srgbClr val="EEEBFB"/>
          </a:solidFill>
        </a:fill>
      </a:tcStyle>
    </a:lastRow>
    <a:firstRow>
      <a:tcTxStyle b="on">
        <a:fontRef idx="minor">
          <a:prstClr val="black"/>
        </a:fontRef>
        <a:schemeClr val="lt1"/>
      </a:tcTxStyle>
      <a:tcStyle>
        <a:tcBdr>
          <a:top>
            <a:ln w="12700" cmpd="sng">
              <a:solidFill>
                <a:srgbClr val="2C2E82"/>
              </a:solidFill>
            </a:ln>
          </a:top>
          <a:bottom>
            <a:ln w="12700" cmpd="sng">
              <a:solidFill>
                <a:srgbClr val="2C2E82"/>
              </a:solidFill>
            </a:ln>
          </a:bottom>
        </a:tcBdr>
        <a:fill>
          <a:solidFill>
            <a:srgbClr val="FFFFFF"/>
          </a:solidFill>
        </a:fill>
      </a:tcStyle>
    </a:firstRow>
  </a:tblStyle>
  <a:tblStyle styleId="{69C7853C-536D-4A76-A0AE-DD22124D55A4}" styleName="SH Styl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rgbClr val="7030A0"/>
              </a:solidFill>
            </a:ln>
          </a:bottom>
          <a:insideH>
            <a:ln w="0" cmpd="sng">
              <a:solidFill>
                <a:schemeClr val="lt1"/>
              </a:solidFill>
            </a:ln>
          </a:insideH>
          <a:insideV>
            <a:ln w="0" cmpd="sng">
              <a:solidFill>
                <a:schemeClr val="lt1"/>
              </a:solidFill>
            </a:ln>
          </a:insideV>
        </a:tcBdr>
        <a:fill>
          <a:solidFill>
            <a:schemeClr val="accent1">
              <a:tint val="20000"/>
            </a:schemeClr>
          </a:solidFill>
        </a:fill>
      </a:tcStyle>
    </a:wholeTbl>
    <a:band1H>
      <a:tcStyle>
        <a:tcBdr/>
        <a:fill>
          <a:solidFill>
            <a:srgbClr val="EEEBFB"/>
          </a:solidFill>
        </a:fill>
      </a:tcStyle>
    </a:band1H>
    <a:band2H>
      <a:tcStyle>
        <a:tcBdr/>
        <a:fill>
          <a:solidFill>
            <a:srgbClr val="EEEBFB"/>
          </a:solidFill>
        </a:fill>
      </a:tcStyle>
    </a:band2H>
    <a:band1V>
      <a:tcStyle>
        <a:tcBdr/>
        <a:fill>
          <a:solidFill>
            <a:srgbClr val="EEEBFB"/>
          </a:solidFill>
        </a:fill>
      </a:tcStyle>
    </a:band1V>
    <a:band2V>
      <a:tcStyle>
        <a:tcBdr/>
        <a:fill>
          <a:solidFill>
            <a:srgbClr val="EEEBFB"/>
          </a:solidFill>
        </a:fill>
      </a:tcStyle>
    </a:band2V>
    <a:lastCol>
      <a:tcTxStyle b="on">
        <a:fontRef idx="minor">
          <a:prstClr val="black"/>
        </a:fontRef>
        <a:schemeClr val="lt1"/>
      </a:tcTxStyle>
      <a:tcStyle>
        <a:tcBdr/>
        <a:fill>
          <a:solidFill>
            <a:srgbClr val="EEEBFB"/>
          </a:solidFill>
        </a:fill>
      </a:tcStyle>
    </a:lastCol>
    <a:firstCol>
      <a:tcTxStyle b="on">
        <a:fontRef idx="minor">
          <a:prstClr val="black"/>
        </a:fontRef>
        <a:schemeClr val="lt1"/>
      </a:tcTxStyle>
      <a:tcStyle>
        <a:tcBdr/>
        <a:fill>
          <a:solidFill>
            <a:srgbClr val="EEEBFB"/>
          </a:solidFill>
        </a:fill>
      </a:tcStyle>
    </a:firstCol>
    <a:lastRow>
      <a:tcTxStyle b="on">
        <a:fontRef idx="minor">
          <a:prstClr val="black"/>
        </a:fontRef>
        <a:schemeClr val="lt1"/>
      </a:tcTxStyle>
      <a:tcStyle>
        <a:tcBdr>
          <a:bottom>
            <a:ln w="38100" cmpd="sng">
              <a:solidFill>
                <a:srgbClr val="7030A0"/>
              </a:solidFill>
            </a:ln>
          </a:bottom>
        </a:tcBdr>
        <a:fill>
          <a:solidFill>
            <a:srgbClr val="EEEBFB"/>
          </a:solidFill>
        </a:fill>
      </a:tcStyle>
    </a:lastRow>
    <a:firstRow>
      <a:tcTxStyle b="on">
        <a:fontRef idx="minor">
          <a:prstClr val="black"/>
        </a:fontRef>
        <a:schemeClr val="lt1"/>
      </a:tcTxStyle>
      <a:tcStyle>
        <a:tcBdr>
          <a:top>
            <a:ln w="12700" cmpd="sng">
              <a:solidFill>
                <a:srgbClr val="7030A0"/>
              </a:solidFill>
            </a:ln>
          </a:top>
          <a:bottom>
            <a:ln w="12700" cmpd="sng">
              <a:solidFill>
                <a:srgbClr val="7030A0"/>
              </a:solidFill>
            </a:ln>
          </a:bottom>
        </a:tcBdr>
        <a:fill>
          <a:solidFill>
            <a:srgbClr val="FFFFFF"/>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notesViewPr>
    <p:cSldViewPr snapToGrid="0">
      <p:cViewPr varScale="1">
        <p:scale>
          <a:sx n="75" d="100"/>
          <a:sy n="75" d="100"/>
        </p:scale>
        <p:origin x="3168" y="66"/>
      </p:cViewPr>
      <p:guideLst>
        <p:guide orient="horz" pos="3131"/>
        <p:guide pos="2145"/>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al Llego" userId="477c438a-e30e-4b40-90df-78c24ad56b5f" providerId="ADAL" clId="{E7377ED2-4D78-4CD1-A0BD-F92D92052D0F}"/>
    <pc:docChg chg="modSld">
      <pc:chgData name="Seal Llego" userId="477c438a-e30e-4b40-90df-78c24ad56b5f" providerId="ADAL" clId="{E7377ED2-4D78-4CD1-A0BD-F92D92052D0F}" dt="2026-07-13T13:17:40.917" v="26" actId="20577"/>
      <pc:docMkLst>
        <pc:docMk/>
      </pc:docMkLst>
      <pc:sldChg chg="modSp mod">
        <pc:chgData name="Seal Llego" userId="477c438a-e30e-4b40-90df-78c24ad56b5f" providerId="ADAL" clId="{E7377ED2-4D78-4CD1-A0BD-F92D92052D0F}" dt="2026-07-13T13:17:40.917" v="26" actId="20577"/>
        <pc:sldMkLst>
          <pc:docMk/>
          <pc:sldMk cId="639750880" sldId="2140757924"/>
        </pc:sldMkLst>
        <pc:spChg chg="mod">
          <ac:chgData name="Seal Llego" userId="477c438a-e30e-4b40-90df-78c24ad56b5f" providerId="ADAL" clId="{E7377ED2-4D78-4CD1-A0BD-F92D92052D0F}" dt="2026-07-13T13:17:30.736" v="8" actId="20577"/>
          <ac:spMkLst>
            <pc:docMk/>
            <pc:sldMk cId="639750880" sldId="2140757924"/>
            <ac:spMk id="3" creationId="{07A1DA38-1E29-C8B9-CDC5-608DCBCEF56E}"/>
          </ac:spMkLst>
        </pc:spChg>
        <pc:spChg chg="mod">
          <ac:chgData name="Seal Llego" userId="477c438a-e30e-4b40-90df-78c24ad56b5f" providerId="ADAL" clId="{E7377ED2-4D78-4CD1-A0BD-F92D92052D0F}" dt="2026-07-13T13:17:40.917" v="26" actId="20577"/>
          <ac:spMkLst>
            <pc:docMk/>
            <pc:sldMk cId="639750880" sldId="2140757924"/>
            <ac:spMk id="11" creationId="{7423C360-BFCE-E6F0-3D81-21DFAFED819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73AFFD-7952-8F47-9562-43A0D02E8937}"/>
              </a:ext>
            </a:extLst>
          </p:cNvPr>
          <p:cNvSpPr>
            <a:spLocks noGrp="1"/>
          </p:cNvSpPr>
          <p:nvPr>
            <p:ph type="hdr" sz="quarter"/>
          </p:nvPr>
        </p:nvSpPr>
        <p:spPr>
          <a:xfrm>
            <a:off x="0" y="0"/>
            <a:ext cx="2950475" cy="49877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AEEC13-AA39-FF47-81D6-7C4821895DFF}"/>
              </a:ext>
            </a:extLst>
          </p:cNvPr>
          <p:cNvSpPr>
            <a:spLocks noGrp="1"/>
          </p:cNvSpPr>
          <p:nvPr>
            <p:ph type="dt" sz="quarter" idx="1"/>
          </p:nvPr>
        </p:nvSpPr>
        <p:spPr>
          <a:xfrm>
            <a:off x="3856737" y="0"/>
            <a:ext cx="2950475" cy="498773"/>
          </a:xfrm>
          <a:prstGeom prst="rect">
            <a:avLst/>
          </a:prstGeom>
        </p:spPr>
        <p:txBody>
          <a:bodyPr vert="horz" lIns="91440" tIns="45720" rIns="91440" bIns="45720" rtlCol="0"/>
          <a:lstStyle>
            <a:lvl1pPr algn="r">
              <a:defRPr sz="1200"/>
            </a:lvl1pPr>
          </a:lstStyle>
          <a:p>
            <a:fld id="{AF9124C0-B47C-2D4D-B7DA-E1D6FCB07920}" type="datetimeFigureOut">
              <a:rPr lang="en-US" smtClean="0"/>
              <a:t>7/14/2026</a:t>
            </a:fld>
            <a:endParaRPr lang="en-US"/>
          </a:p>
        </p:txBody>
      </p:sp>
      <p:sp>
        <p:nvSpPr>
          <p:cNvPr id="4" name="Footer Placeholder 3">
            <a:extLst>
              <a:ext uri="{FF2B5EF4-FFF2-40B4-BE49-F238E27FC236}">
                <a16:creationId xmlns:a16="http://schemas.microsoft.com/office/drawing/2014/main" id="{FDB92179-FB29-274C-9ABA-B401B5789AB4}"/>
              </a:ext>
            </a:extLst>
          </p:cNvPr>
          <p:cNvSpPr>
            <a:spLocks noGrp="1"/>
          </p:cNvSpPr>
          <p:nvPr>
            <p:ph type="ftr" sz="quarter" idx="2"/>
          </p:nvPr>
        </p:nvSpPr>
        <p:spPr>
          <a:xfrm>
            <a:off x="0" y="9442154"/>
            <a:ext cx="2950475" cy="49877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477F99F-A89C-CA42-8B3D-AB3510A23B58}"/>
              </a:ext>
            </a:extLst>
          </p:cNvPr>
          <p:cNvSpPr>
            <a:spLocks noGrp="1"/>
          </p:cNvSpPr>
          <p:nvPr>
            <p:ph type="sldNum" sz="quarter" idx="3"/>
          </p:nvPr>
        </p:nvSpPr>
        <p:spPr>
          <a:xfrm>
            <a:off x="3856737" y="9442154"/>
            <a:ext cx="2950475" cy="498772"/>
          </a:xfrm>
          <a:prstGeom prst="rect">
            <a:avLst/>
          </a:prstGeom>
        </p:spPr>
        <p:txBody>
          <a:bodyPr vert="horz" lIns="91440" tIns="45720" rIns="91440" bIns="45720" rtlCol="0" anchor="b"/>
          <a:lstStyle>
            <a:lvl1pPr algn="r">
              <a:defRPr sz="1200"/>
            </a:lvl1pPr>
          </a:lstStyle>
          <a:p>
            <a:fld id="{5A5F1ED3-BA79-4540-A3BF-19E1F1455024}" type="slidenum">
              <a:rPr lang="en-US" smtClean="0"/>
              <a:t>‹#›</a:t>
            </a:fld>
            <a:endParaRPr lang="en-US"/>
          </a:p>
        </p:txBody>
      </p:sp>
    </p:spTree>
    <p:extLst>
      <p:ext uri="{BB962C8B-B14F-4D97-AF65-F5344CB8AC3E}">
        <p14:creationId xmlns:p14="http://schemas.microsoft.com/office/powerpoint/2010/main" val="134524228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1" userDrawn="1">
          <p15:clr>
            <a:srgbClr val="F26B43"/>
          </p15:clr>
        </p15:guide>
        <p15:guide id="2" pos="214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50475" cy="49877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6737" y="0"/>
            <a:ext cx="2950475" cy="498773"/>
          </a:xfrm>
          <a:prstGeom prst="rect">
            <a:avLst/>
          </a:prstGeom>
        </p:spPr>
        <p:txBody>
          <a:bodyPr vert="horz" lIns="91440" tIns="45720" rIns="91440" bIns="45720" rtlCol="0"/>
          <a:lstStyle>
            <a:lvl1pPr algn="r">
              <a:defRPr sz="1200"/>
            </a:lvl1pPr>
          </a:lstStyle>
          <a:p>
            <a:fld id="{4672F554-F5A9-ED4C-BC96-1B154D77C3BA}" type="datetimeFigureOut">
              <a:rPr lang="en-US" smtClean="0"/>
              <a:t>7/14/2026</a:t>
            </a:fld>
            <a:endParaRPr lang="en-US"/>
          </a:p>
        </p:txBody>
      </p:sp>
      <p:sp>
        <p:nvSpPr>
          <p:cNvPr id="4" name="Slide Image Placeholder 3"/>
          <p:cNvSpPr>
            <a:spLocks noGrp="1" noRot="1" noChangeAspect="1"/>
          </p:cNvSpPr>
          <p:nvPr>
            <p:ph type="sldImg" idx="2"/>
          </p:nvPr>
        </p:nvSpPr>
        <p:spPr>
          <a:xfrm>
            <a:off x="423863" y="1243013"/>
            <a:ext cx="5961062" cy="33543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879" y="4784070"/>
            <a:ext cx="5447030" cy="3914239"/>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42154"/>
            <a:ext cx="2950475" cy="49877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6737" y="9442154"/>
            <a:ext cx="2950475" cy="498772"/>
          </a:xfrm>
          <a:prstGeom prst="rect">
            <a:avLst/>
          </a:prstGeom>
        </p:spPr>
        <p:txBody>
          <a:bodyPr vert="horz" lIns="91440" tIns="45720" rIns="91440" bIns="45720" rtlCol="0" anchor="b"/>
          <a:lstStyle>
            <a:lvl1pPr algn="r">
              <a:defRPr sz="1200"/>
            </a:lvl1pPr>
          </a:lstStyle>
          <a:p>
            <a:fld id="{D86A1AEB-2744-3C41-A5F8-CDFEB54C3420}" type="slidenum">
              <a:rPr lang="en-US" smtClean="0"/>
              <a:t>‹#›</a:t>
            </a:fld>
            <a:endParaRPr lang="en-US"/>
          </a:p>
        </p:txBody>
      </p:sp>
    </p:spTree>
    <p:extLst>
      <p:ext uri="{BB962C8B-B14F-4D97-AF65-F5344CB8AC3E}">
        <p14:creationId xmlns:p14="http://schemas.microsoft.com/office/powerpoint/2010/main" val="46058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86A1AEB-2744-3C41-A5F8-CDFEB54C3420}" type="slidenum">
              <a:rPr lang="en-US" smtClean="0"/>
              <a:t>2</a:t>
            </a:fld>
            <a:endParaRPr lang="en-US"/>
          </a:p>
        </p:txBody>
      </p:sp>
    </p:spTree>
    <p:extLst>
      <p:ext uri="{BB962C8B-B14F-4D97-AF65-F5344CB8AC3E}">
        <p14:creationId xmlns:p14="http://schemas.microsoft.com/office/powerpoint/2010/main" val="5991571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hyperlink" Target="https://www.sheffieldhaworth.com/"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dvisory Profil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43C64BD-51F1-0C77-265C-D75A30E35BFD}"/>
              </a:ext>
            </a:extLst>
          </p:cNvPr>
          <p:cNvSpPr>
            <a:spLocks/>
          </p:cNvSpPr>
          <p:nvPr userDrawn="1"/>
        </p:nvSpPr>
        <p:spPr>
          <a:xfrm>
            <a:off x="0" y="-7591"/>
            <a:ext cx="12192000" cy="151170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69C7D35F-D9E9-91DF-2215-FFA36C04B828}"/>
              </a:ext>
            </a:extLst>
          </p:cNvPr>
          <p:cNvSpPr/>
          <p:nvPr userDrawn="1"/>
        </p:nvSpPr>
        <p:spPr>
          <a:xfrm>
            <a:off x="9017000" y="1825460"/>
            <a:ext cx="2628900" cy="4232440"/>
          </a:xfrm>
          <a:prstGeom prst="rect">
            <a:avLst/>
          </a:prstGeom>
          <a:solidFill>
            <a:schemeClr val="accent2">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A782B080-FEC5-D145-8520-02936185C18B}"/>
              </a:ext>
            </a:extLst>
          </p:cNvPr>
          <p:cNvCxnSpPr>
            <a:cxnSpLocks/>
          </p:cNvCxnSpPr>
          <p:nvPr userDrawn="1">
            <p:custDataLst>
              <p:tags r:id="rId1"/>
            </p:custDataLst>
          </p:nvPr>
        </p:nvCxnSpPr>
        <p:spPr>
          <a:xfrm>
            <a:off x="538872" y="6362700"/>
            <a:ext cx="11102976" cy="0"/>
          </a:xfrm>
          <a:prstGeom prst="line">
            <a:avLst/>
          </a:prstGeom>
          <a:ln>
            <a:solidFill>
              <a:schemeClr val="accent1"/>
            </a:solidFill>
          </a:ln>
        </p:spPr>
        <p:style>
          <a:lnRef idx="1">
            <a:schemeClr val="accent6"/>
          </a:lnRef>
          <a:fillRef idx="0">
            <a:schemeClr val="accent6"/>
          </a:fillRef>
          <a:effectRef idx="0">
            <a:schemeClr val="accent6"/>
          </a:effectRef>
          <a:fontRef idx="minor">
            <a:schemeClr val="tx1"/>
          </a:fontRef>
        </p:style>
      </p:cxnSp>
      <p:sp>
        <p:nvSpPr>
          <p:cNvPr id="27" name="TextBox 26">
            <a:extLst>
              <a:ext uri="{FF2B5EF4-FFF2-40B4-BE49-F238E27FC236}">
                <a16:creationId xmlns:a16="http://schemas.microsoft.com/office/drawing/2014/main" id="{2D99CAF8-48FB-604A-B80B-600F2E1F34E6}"/>
              </a:ext>
            </a:extLst>
          </p:cNvPr>
          <p:cNvSpPr txBox="1"/>
          <p:nvPr userDrawn="1">
            <p:custDataLst>
              <p:tags r:id="rId2"/>
            </p:custDataLst>
          </p:nvPr>
        </p:nvSpPr>
        <p:spPr>
          <a:xfrm>
            <a:off x="542924" y="6398353"/>
            <a:ext cx="1409701" cy="92333"/>
          </a:xfrm>
          <a:prstGeom prst="rect">
            <a:avLst/>
          </a:prstGeom>
          <a:noFill/>
        </p:spPr>
        <p:txBody>
          <a:bodyPr wrap="square" lIns="0" tIns="0" rIns="0" bIns="0" anchor="b">
            <a:spAutoFit/>
          </a:bodyPr>
          <a:lstStyle/>
          <a:p>
            <a:pPr lvl="0"/>
            <a:r>
              <a:rPr lang="en-US" sz="600" b="1" i="0" u="none" spc="150" baseline="0">
                <a:solidFill>
                  <a:schemeClr val="tx2">
                    <a:lumMod val="50000"/>
                  </a:schemeClr>
                </a:solidFill>
                <a:latin typeface="Raleway Black" pitchFamily="2" charset="77"/>
                <a:hlinkClick r:id="rId4">
                  <a:extLst>
                    <a:ext uri="{A12FA001-AC4F-418D-AE19-62706E023703}">
                      <ahyp:hlinkClr xmlns:ahyp="http://schemas.microsoft.com/office/drawing/2018/hyperlinkcolor" val="tx"/>
                    </a:ext>
                  </a:extLst>
                </a:hlinkClick>
              </a:rPr>
              <a:t>SHEFFIELDHAWORTH.COM</a:t>
            </a:r>
            <a:endParaRPr lang="en-US" sz="600" b="1" i="0" u="none" spc="150" baseline="0">
              <a:solidFill>
                <a:schemeClr val="tx2">
                  <a:lumMod val="50000"/>
                </a:schemeClr>
              </a:solidFill>
              <a:latin typeface="Raleway Black" pitchFamily="2" charset="77"/>
            </a:endParaRPr>
          </a:p>
        </p:txBody>
      </p:sp>
      <p:sp>
        <p:nvSpPr>
          <p:cNvPr id="11" name="Rectangle 10">
            <a:extLst>
              <a:ext uri="{FF2B5EF4-FFF2-40B4-BE49-F238E27FC236}">
                <a16:creationId xmlns:a16="http://schemas.microsoft.com/office/drawing/2014/main" id="{1AEA96A1-A5D4-3548-901D-72CF79962F56}"/>
              </a:ext>
            </a:extLst>
          </p:cNvPr>
          <p:cNvSpPr/>
          <p:nvPr userDrawn="1"/>
        </p:nvSpPr>
        <p:spPr>
          <a:xfrm>
            <a:off x="538872" y="6477986"/>
            <a:ext cx="1388353" cy="1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50000"/>
                </a:schemeClr>
              </a:solidFill>
            </a:endParaRPr>
          </a:p>
        </p:txBody>
      </p:sp>
      <p:sp>
        <p:nvSpPr>
          <p:cNvPr id="29" name="Rectangle 28">
            <a:extLst>
              <a:ext uri="{FF2B5EF4-FFF2-40B4-BE49-F238E27FC236}">
                <a16:creationId xmlns:a16="http://schemas.microsoft.com/office/drawing/2014/main" id="{28069655-152D-F10A-5B16-468DD5FE64F1}"/>
              </a:ext>
            </a:extLst>
          </p:cNvPr>
          <p:cNvSpPr/>
          <p:nvPr userDrawn="1"/>
        </p:nvSpPr>
        <p:spPr>
          <a:xfrm>
            <a:off x="3377021" y="2169454"/>
            <a:ext cx="9144" cy="9027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Google Shape;32;p1">
            <a:extLst>
              <a:ext uri="{FF2B5EF4-FFF2-40B4-BE49-F238E27FC236}">
                <a16:creationId xmlns:a16="http://schemas.microsoft.com/office/drawing/2014/main" id="{2CF5FE2C-3257-B9CE-FFF4-7C9C369CC38F}"/>
              </a:ext>
            </a:extLst>
          </p:cNvPr>
          <p:cNvSpPr/>
          <p:nvPr userDrawn="1"/>
        </p:nvSpPr>
        <p:spPr>
          <a:xfrm>
            <a:off x="538163" y="3526962"/>
            <a:ext cx="2627313" cy="2521201"/>
          </a:xfrm>
          <a:custGeom>
            <a:avLst/>
            <a:gdLst/>
            <a:ahLst/>
            <a:cxnLst/>
            <a:rect l="l" t="t" r="r" b="b"/>
            <a:pathLst>
              <a:path w="9144000" h="5100320" extrusionOk="0">
                <a:moveTo>
                  <a:pt x="0" y="0"/>
                </a:moveTo>
                <a:lnTo>
                  <a:pt x="9144000" y="0"/>
                </a:lnTo>
                <a:lnTo>
                  <a:pt x="9144000" y="5100179"/>
                </a:lnTo>
                <a:lnTo>
                  <a:pt x="0" y="5100179"/>
                </a:lnTo>
                <a:lnTo>
                  <a:pt x="0" y="0"/>
                </a:lnTo>
                <a:close/>
              </a:path>
            </a:pathLst>
          </a:custGeom>
          <a:solidFill>
            <a:schemeClr val="bg2"/>
          </a:solid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4D4D4D"/>
              </a:solidFill>
              <a:effectLst/>
              <a:uLnTx/>
              <a:uFillTx/>
              <a:latin typeface="Libre Franklin"/>
              <a:ea typeface="Libre Franklin"/>
              <a:cs typeface="Libre Franklin"/>
              <a:sym typeface="Libre Franklin"/>
            </a:endParaRPr>
          </a:p>
        </p:txBody>
      </p:sp>
    </p:spTree>
    <p:extLst>
      <p:ext uri="{BB962C8B-B14F-4D97-AF65-F5344CB8AC3E}">
        <p14:creationId xmlns:p14="http://schemas.microsoft.com/office/powerpoint/2010/main" val="19977897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AB3B7BA-C6C8-2248-B9FC-305154F09843}"/>
              </a:ext>
            </a:extLst>
          </p:cNvPr>
          <p:cNvSpPr>
            <a:spLocks noGrp="1"/>
          </p:cNvSpPr>
          <p:nvPr>
            <p:ph type="title"/>
          </p:nvPr>
        </p:nvSpPr>
        <p:spPr>
          <a:xfrm>
            <a:off x="838200" y="365125"/>
            <a:ext cx="10515600" cy="1325563"/>
          </a:xfrm>
          <a:prstGeom prst="rect">
            <a:avLst/>
          </a:prstGeom>
        </p:spPr>
        <p:txBody>
          <a:bodyPr vert="horz" lIns="0" tIns="0" rIns="0" bIns="0" rtlCol="0" anchor="ctr">
            <a:noAutofit/>
          </a:bodyPr>
          <a:lstStyle/>
          <a:p>
            <a:r>
              <a:rPr lang="en-GB"/>
              <a:t>Click to edit Master title style</a:t>
            </a:r>
            <a:endParaRPr lang="en-US"/>
          </a:p>
        </p:txBody>
      </p:sp>
      <p:sp>
        <p:nvSpPr>
          <p:cNvPr id="6" name="Text Placeholder 2">
            <a:extLst>
              <a:ext uri="{FF2B5EF4-FFF2-40B4-BE49-F238E27FC236}">
                <a16:creationId xmlns:a16="http://schemas.microsoft.com/office/drawing/2014/main" id="{0959A1D4-4565-0F43-8D7F-8D77464C1C93}"/>
              </a:ext>
            </a:extLst>
          </p:cNvPr>
          <p:cNvSpPr>
            <a:spLocks noGrp="1"/>
          </p:cNvSpPr>
          <p:nvPr>
            <p:ph type="body" idx="1"/>
          </p:nvPr>
        </p:nvSpPr>
        <p:spPr>
          <a:xfrm>
            <a:off x="838200" y="1825625"/>
            <a:ext cx="10515600" cy="43513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17426230"/>
      </p:ext>
    </p:extLst>
  </p:cSld>
  <p:clrMap bg1="lt1" tx1="dk1" bg2="lt2" tx2="dk2" accent1="accent1" accent2="accent2" accent3="accent3" accent4="accent4" accent5="accent5" accent6="accent6" hlink="hlink" folHlink="folHlink"/>
  <p:sldLayoutIdLst>
    <p:sldLayoutId id="2147484642" r:id="rId1"/>
  </p:sldLayoutIdLst>
  <p:hf hdr="0" ftr="0" dt="0"/>
  <p:txStyles>
    <p:titleStyle>
      <a:lvl1pPr algn="l" defTabSz="914400" rtl="0" eaLnBrk="1" latinLnBrk="0" hangingPunct="1">
        <a:lnSpc>
          <a:spcPct val="90000"/>
        </a:lnSpc>
        <a:spcBef>
          <a:spcPct val="0"/>
        </a:spcBef>
        <a:buNone/>
        <a:defRPr sz="4400" b="0" i="0" kern="1200">
          <a:solidFill>
            <a:schemeClr val="tx2"/>
          </a:solidFill>
          <a:latin typeface="Raleway Light" pitchFamily="2" charset="77"/>
          <a:ea typeface="+mj-ea"/>
          <a:cs typeface="+mj-cs"/>
        </a:defRPr>
      </a:lvl1pPr>
    </p:titleStyle>
    <p:bodyStyle>
      <a:lvl1pPr marL="0" indent="0" algn="l" defTabSz="914400" rtl="0" eaLnBrk="1" latinLnBrk="0" hangingPunct="1">
        <a:lnSpc>
          <a:spcPct val="100000"/>
        </a:lnSpc>
        <a:spcBef>
          <a:spcPts val="0"/>
        </a:spcBef>
        <a:spcAft>
          <a:spcPts val="0"/>
        </a:spcAft>
        <a:buFont typeface="Arial" panose="020B0604020202020204" pitchFamily="34" charset="0"/>
        <a:buNone/>
        <a:defRPr lang="en-GB" sz="2400" b="0" i="0" kern="1200" spc="0" dirty="0">
          <a:solidFill>
            <a:schemeClr val="tx2"/>
          </a:solidFill>
          <a:effectLst/>
          <a:latin typeface="Raleway" pitchFamily="2" charset="77"/>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lang="en-GB" sz="1000" b="1" i="0" kern="1200" dirty="0">
          <a:solidFill>
            <a:schemeClr val="tx2"/>
          </a:solidFill>
          <a:latin typeface="Raleway" pitchFamily="2" charset="77"/>
          <a:ea typeface="+mn-ea"/>
          <a:cs typeface="+mn-cs"/>
        </a:defRPr>
      </a:lvl2pPr>
      <a:lvl3pPr marL="0" indent="0" algn="l" defTabSz="914400" rtl="0" eaLnBrk="1" latinLnBrk="0" hangingPunct="1">
        <a:lnSpc>
          <a:spcPct val="100000"/>
        </a:lnSpc>
        <a:spcBef>
          <a:spcPts val="500"/>
        </a:spcBef>
        <a:buFont typeface="Arial" panose="020B0604020202020204" pitchFamily="34" charset="0"/>
        <a:buNone/>
        <a:defRPr lang="en-GB" sz="1000" b="0" i="0" kern="1200" dirty="0">
          <a:solidFill>
            <a:schemeClr val="tx2"/>
          </a:solidFill>
          <a:latin typeface="Raleway Medium" pitchFamily="2" charset="77"/>
          <a:ea typeface="+mn-ea"/>
          <a:cs typeface="+mn-cs"/>
        </a:defRPr>
      </a:lvl3pPr>
      <a:lvl4pPr marL="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Raleway Medium" pitchFamily="2" charset="77"/>
          <a:ea typeface="+mn-ea"/>
          <a:cs typeface="+mn-cs"/>
        </a:defRPr>
      </a:lvl4pPr>
      <a:lvl5pPr marL="0" indent="0" algn="l" defTabSz="914400" rtl="0" eaLnBrk="1" latinLnBrk="0" hangingPunct="1">
        <a:lnSpc>
          <a:spcPct val="100000"/>
        </a:lnSpc>
        <a:spcBef>
          <a:spcPts val="500"/>
        </a:spcBef>
        <a:buFont typeface="Arial" panose="020B0604020202020204" pitchFamily="34" charset="0"/>
        <a:buNone/>
        <a:defRPr sz="600" b="1" i="0" kern="1200" spc="150" baseline="0">
          <a:solidFill>
            <a:schemeClr val="tx2"/>
          </a:solidFill>
          <a:latin typeface="Raleway Black"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35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36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3" pos="339" userDrawn="1">
          <p15:clr>
            <a:srgbClr val="F26B43"/>
          </p15:clr>
        </p15:guide>
        <p15:guide id="4" orient="horz" pos="342">
          <p15:clr>
            <a:srgbClr val="F26B43"/>
          </p15:clr>
        </p15:guide>
        <p15:guide id="5" pos="7336">
          <p15:clr>
            <a:srgbClr val="F26B43"/>
          </p15:clr>
        </p15:guide>
        <p15:guide id="6" orient="horz" pos="3974">
          <p15:clr>
            <a:srgbClr val="F26B43"/>
          </p15:clr>
        </p15:guide>
        <p15:guide id="7" pos="2714">
          <p15:clr>
            <a:srgbClr val="F26B43"/>
          </p15:clr>
        </p15:guide>
        <p15:guide id="8" pos="4966">
          <p15:clr>
            <a:srgbClr val="F26B43"/>
          </p15:clr>
        </p15:guide>
        <p15:guide id="9" pos="5084">
          <p15:clr>
            <a:srgbClr val="F26B43"/>
          </p15:clr>
        </p15:guide>
        <p15:guide id="10" pos="2591">
          <p15:clr>
            <a:srgbClr val="F26B43"/>
          </p15:clr>
        </p15:guide>
        <p15:guide id="11" pos="3774">
          <p15:clr>
            <a:srgbClr val="F26B43"/>
          </p15:clr>
        </p15:guide>
        <p15:guide id="12" pos="3904">
          <p15:clr>
            <a:srgbClr val="F26B43"/>
          </p15:clr>
        </p15:guide>
        <p15:guide id="13" pos="1528">
          <p15:clr>
            <a:srgbClr val="F26B43"/>
          </p15:clr>
        </p15:guide>
        <p15:guide id="14" pos="1404">
          <p15:clr>
            <a:srgbClr val="F26B43"/>
          </p15:clr>
        </p15:guide>
        <p15:guide id="15" pos="6270">
          <p15:clr>
            <a:srgbClr val="F26B43"/>
          </p15:clr>
        </p15:guide>
        <p15:guide id="16" pos="6146">
          <p15:clr>
            <a:srgbClr val="F26B43"/>
          </p15:clr>
        </p15:guide>
        <p15:guide id="17" pos="5548">
          <p15:clr>
            <a:srgbClr val="F26B43"/>
          </p15:clr>
        </p15:guide>
        <p15:guide id="18" pos="5680">
          <p15:clr>
            <a:srgbClr val="F26B43"/>
          </p15:clr>
        </p15:guide>
        <p15:guide id="19" pos="6740">
          <p15:clr>
            <a:srgbClr val="F26B43"/>
          </p15:clr>
        </p15:guide>
        <p15:guide id="20" pos="6872">
          <p15:clr>
            <a:srgbClr val="F26B43"/>
          </p15:clr>
        </p15:guide>
        <p15:guide id="21" pos="4368">
          <p15:clr>
            <a:srgbClr val="F26B43"/>
          </p15:clr>
        </p15:guide>
        <p15:guide id="22" pos="4500">
          <p15:clr>
            <a:srgbClr val="F26B43"/>
          </p15:clr>
        </p15:guide>
        <p15:guide id="23" pos="3176">
          <p15:clr>
            <a:srgbClr val="F26B43"/>
          </p15:clr>
        </p15:guide>
        <p15:guide id="24" pos="3308">
          <p15:clr>
            <a:srgbClr val="F26B43"/>
          </p15:clr>
        </p15:guide>
        <p15:guide id="25" pos="1994">
          <p15:clr>
            <a:srgbClr val="F26B43"/>
          </p15:clr>
        </p15:guide>
        <p15:guide id="26" pos="2126">
          <p15:clr>
            <a:srgbClr val="F26B43"/>
          </p15:clr>
        </p15:guide>
        <p15:guide id="27" pos="806">
          <p15:clr>
            <a:srgbClr val="F26B43"/>
          </p15:clr>
        </p15:guide>
        <p15:guide id="28" pos="938">
          <p15:clr>
            <a:srgbClr val="F26B43"/>
          </p15:clr>
        </p15:guide>
        <p15:guide id="29" orient="horz">
          <p15:clr>
            <a:srgbClr val="F26B43"/>
          </p15:clr>
        </p15:guide>
        <p15:guide id="30" orient="horz" pos="4320">
          <p15:clr>
            <a:srgbClr val="F26B43"/>
          </p15:clr>
        </p15:guide>
        <p15:guide id="31">
          <p15:clr>
            <a:srgbClr val="F26B43"/>
          </p15:clr>
        </p15:guide>
        <p15:guide id="32" pos="7680">
          <p15:clr>
            <a:srgbClr val="F26B43"/>
          </p15:clr>
        </p15:guide>
        <p15:guide id="33" orient="horz" pos="952">
          <p15:clr>
            <a:srgbClr val="F26B43"/>
          </p15:clr>
        </p15:guide>
        <p15:guide id="34" orient="horz" pos="1548">
          <p15:clr>
            <a:srgbClr val="F26B43"/>
          </p15:clr>
        </p15:guide>
        <p15:guide id="35" orient="horz" pos="2768">
          <p15:clr>
            <a:srgbClr val="F26B43"/>
          </p15:clr>
        </p15:guide>
        <p15:guide id="36" orient="horz" pos="3362">
          <p15:clr>
            <a:srgbClr val="F26B43"/>
          </p15:clr>
        </p15:guide>
        <p15:guide id="37" orient="horz" pos="3668">
          <p15:clr>
            <a:srgbClr val="F26B43"/>
          </p15:clr>
        </p15:guide>
        <p15:guide id="38" orient="horz" pos="646">
          <p15:clr>
            <a:srgbClr val="F26B43"/>
          </p15:clr>
        </p15:guide>
        <p15:guide id="39" orient="horz" pos="308">
          <p15:clr>
            <a:srgbClr val="F26B43"/>
          </p15:clr>
        </p15:guide>
        <p15:guide id="40" orient="horz" pos="4008">
          <p15:clr>
            <a:srgbClr val="F26B43"/>
          </p15:clr>
        </p15:guide>
        <p15:guide id="41" orient="horz" pos="118">
          <p15:clr>
            <a:srgbClr val="F26B43"/>
          </p15:clr>
        </p15:guide>
        <p15:guide id="42" pos="116">
          <p15:clr>
            <a:srgbClr val="F26B43"/>
          </p15:clr>
        </p15:guide>
        <p15:guide id="43" orient="horz" pos="4202">
          <p15:clr>
            <a:srgbClr val="F26B43"/>
          </p15:clr>
        </p15:guide>
        <p15:guide id="44" pos="7562">
          <p15:clr>
            <a:srgbClr val="F26B43"/>
          </p15:clr>
        </p15:guide>
        <p15:guide id="45" orient="horz" pos="495">
          <p15:clr>
            <a:srgbClr val="F26B43"/>
          </p15:clr>
        </p15:guide>
        <p15:guide id="46" orient="horz" pos="38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6CB2E1-3F85-495C-F2E2-8EE68AFF6B4D}"/>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rcRect t="140" b="140"/>
          <a:stretch/>
        </p:blipFill>
        <p:spPr>
          <a:xfrm>
            <a:off x="1293693" y="1833260"/>
            <a:ext cx="1116252" cy="1116252"/>
          </a:xfrm>
          <a:prstGeom prst="ellipse">
            <a:avLst/>
          </a:prstGeom>
        </p:spPr>
      </p:pic>
      <p:sp>
        <p:nvSpPr>
          <p:cNvPr id="3" name="Google Shape;35;p1">
            <a:extLst>
              <a:ext uri="{FF2B5EF4-FFF2-40B4-BE49-F238E27FC236}">
                <a16:creationId xmlns:a16="http://schemas.microsoft.com/office/drawing/2014/main" id="{07A1DA38-1E29-C8B9-CDC5-608DCBCEF56E}"/>
              </a:ext>
            </a:extLst>
          </p:cNvPr>
          <p:cNvSpPr txBox="1">
            <a:spLocks noGrp="1" noRot="1" noMove="1" noResize="1" noEditPoints="1" noAdjustHandles="1" noChangeArrowheads="1" noChangeShapeType="1"/>
          </p:cNvSpPr>
          <p:nvPr/>
        </p:nvSpPr>
        <p:spPr>
          <a:xfrm>
            <a:off x="595357" y="3029190"/>
            <a:ext cx="2512924" cy="300723"/>
          </a:xfrm>
          <a:prstGeom prst="rect">
            <a:avLst/>
          </a:prstGeom>
          <a:noFill/>
          <a:ln>
            <a:noFill/>
          </a:ln>
        </p:spPr>
        <p:txBody>
          <a:bodyPr spcFirstLastPara="1" wrap="square" lIns="0" tIns="53975" rIns="0" bIns="0" anchor="t" anchorCtr="0">
            <a:spAutoFit/>
          </a:bodyPr>
          <a:lstStyle/>
          <a:p>
            <a:pPr marL="12700" marR="0" lvl="0" indent="0" algn="ctr" defTabSz="722313"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chemeClr val="accent1">
                    <a:lumMod val="50000"/>
                  </a:schemeClr>
                </a:solidFill>
                <a:effectLst/>
                <a:uLnTx/>
                <a:uFillTx/>
                <a:latin typeface="Raleway"/>
                <a:ea typeface="Raleway"/>
                <a:cs typeface="Raleway"/>
                <a:sym typeface="Raleway"/>
              </a:rPr>
              <a:t>Full Name</a:t>
            </a:r>
          </a:p>
        </p:txBody>
      </p:sp>
      <p:sp>
        <p:nvSpPr>
          <p:cNvPr id="4" name="Google Shape;35;p1">
            <a:extLst>
              <a:ext uri="{FF2B5EF4-FFF2-40B4-BE49-F238E27FC236}">
                <a16:creationId xmlns:a16="http://schemas.microsoft.com/office/drawing/2014/main" id="{6320FF25-8288-AD9C-3D49-02C5A1C85E3D}"/>
              </a:ext>
            </a:extLst>
          </p:cNvPr>
          <p:cNvSpPr txBox="1">
            <a:spLocks noGrp="1" noRot="1" noMove="1" noResize="1" noEditPoints="1" noAdjustHandles="1" noChangeArrowheads="1" noChangeShapeType="1"/>
          </p:cNvSpPr>
          <p:nvPr/>
        </p:nvSpPr>
        <p:spPr>
          <a:xfrm>
            <a:off x="3377021" y="3283070"/>
            <a:ext cx="4382214" cy="215444"/>
          </a:xfrm>
          <a:prstGeom prst="rect">
            <a:avLst/>
          </a:prstGeom>
          <a:noFill/>
          <a:ln>
            <a:noFill/>
          </a:ln>
        </p:spPr>
        <p:txBody>
          <a:bodyPr spcFirstLastPara="1" wrap="square" lIns="0" tIns="0" rIns="0" bIns="0" anchor="t" anchorCtr="0">
            <a:spAutoFit/>
          </a:bodyPr>
          <a:lstStyle/>
          <a:p>
            <a:pPr marL="12700" marR="0" lvl="0" indent="0" algn="just" defTabSz="914400" rtl="0" eaLnBrk="1" fontAlgn="auto" latinLnBrk="0" hangingPunct="1">
              <a:lnSpc>
                <a:spcPct val="100000"/>
              </a:lnSpc>
              <a:spcBef>
                <a:spcPts val="0"/>
              </a:spcBef>
              <a:spcAft>
                <a:spcPts val="0"/>
              </a:spcAft>
              <a:buClrTx/>
              <a:buSzTx/>
              <a:buFontTx/>
              <a:buNone/>
              <a:tabLst/>
              <a:defRPr/>
            </a:pPr>
            <a:r>
              <a:rPr lang="en-GB" sz="1400" b="1">
                <a:solidFill>
                  <a:schemeClr val="accent1">
                    <a:lumMod val="50000"/>
                  </a:schemeClr>
                </a:solidFill>
                <a:latin typeface="Raleway"/>
                <a:sym typeface="Raleway"/>
              </a:rPr>
              <a:t>Relevant Engagements</a:t>
            </a:r>
            <a:endParaRPr kumimoji="0" lang="en-GB" sz="1400" b="1" i="0" u="none" strike="noStrike" kern="1200" cap="none" spc="0" normalizeH="0" baseline="0" noProof="0">
              <a:ln>
                <a:noFill/>
              </a:ln>
              <a:solidFill>
                <a:schemeClr val="accent1">
                  <a:lumMod val="50000"/>
                </a:schemeClr>
              </a:solidFill>
              <a:effectLst/>
              <a:uLnTx/>
              <a:uFillTx/>
              <a:latin typeface="Raleway"/>
              <a:ea typeface="+mn-ea"/>
              <a:cs typeface="+mn-cs"/>
              <a:sym typeface="Raleway"/>
            </a:endParaRPr>
          </a:p>
        </p:txBody>
      </p:sp>
      <p:sp>
        <p:nvSpPr>
          <p:cNvPr id="5" name="TextBox 4">
            <a:extLst>
              <a:ext uri="{FF2B5EF4-FFF2-40B4-BE49-F238E27FC236}">
                <a16:creationId xmlns:a16="http://schemas.microsoft.com/office/drawing/2014/main" id="{BE072885-DB6F-8A0F-99A9-8103961FCDDA}"/>
              </a:ext>
            </a:extLst>
          </p:cNvPr>
          <p:cNvSpPr txBox="1">
            <a:spLocks noGrp="1" noRot="1" noMove="1" noResize="1" noEditPoints="1" noAdjustHandles="1" noChangeArrowheads="1" noChangeShapeType="1"/>
          </p:cNvSpPr>
          <p:nvPr/>
        </p:nvSpPr>
        <p:spPr>
          <a:xfrm>
            <a:off x="3377021" y="1825460"/>
            <a:ext cx="4382214" cy="215444"/>
          </a:xfrm>
          <a:prstGeom prst="rect">
            <a:avLst/>
          </a:prstGeom>
          <a:noFill/>
        </p:spPr>
        <p:txBody>
          <a:bodyPr wrap="square" lIns="0" tIns="0" rIns="0" bIns="0">
            <a:spAutoFit/>
          </a:bodyPr>
          <a:lstStyle/>
          <a:p>
            <a:pPr marL="0" marR="0" lvl="0" indent="0" algn="just" defTabSz="914400" rtl="0" eaLnBrk="1" fontAlgn="auto" latinLnBrk="0" hangingPunct="1">
              <a:lnSpc>
                <a:spcPct val="100000"/>
              </a:lnSpc>
              <a:spcBef>
                <a:spcPts val="0"/>
              </a:spcBef>
              <a:spcAft>
                <a:spcPts val="0"/>
              </a:spcAft>
              <a:buClr>
                <a:srgbClr val="2C2E82"/>
              </a:buClr>
              <a:buSzPts val="1050"/>
              <a:buFont typeface="Arial"/>
              <a:buNone/>
              <a:tabLst/>
              <a:defRPr/>
            </a:pPr>
            <a:r>
              <a:rPr kumimoji="0" lang="en-GB" sz="1400" b="1" i="0" u="none" strike="noStrike" kern="1200" cap="none" spc="0" normalizeH="0" baseline="0" noProof="0">
                <a:ln>
                  <a:noFill/>
                </a:ln>
                <a:solidFill>
                  <a:schemeClr val="accent1">
                    <a:lumMod val="50000"/>
                  </a:schemeClr>
                </a:solidFill>
                <a:effectLst/>
                <a:uLnTx/>
                <a:uFillTx/>
                <a:latin typeface="Raleway"/>
                <a:ea typeface="Raleway"/>
                <a:cs typeface="Raleway"/>
                <a:sym typeface="Raleway"/>
              </a:rPr>
              <a:t>Summary </a:t>
            </a:r>
          </a:p>
        </p:txBody>
      </p:sp>
      <p:sp>
        <p:nvSpPr>
          <p:cNvPr id="6" name="Google Shape;35;p1">
            <a:extLst>
              <a:ext uri="{FF2B5EF4-FFF2-40B4-BE49-F238E27FC236}">
                <a16:creationId xmlns:a16="http://schemas.microsoft.com/office/drawing/2014/main" id="{C9A497BC-DFC3-A0FC-F226-A77258644F73}"/>
              </a:ext>
            </a:extLst>
          </p:cNvPr>
          <p:cNvSpPr txBox="1">
            <a:spLocks noGrp="1" noRot="1" noMove="1" noResize="1" noEditPoints="1" noAdjustHandles="1" noChangeArrowheads="1" noChangeShapeType="1"/>
          </p:cNvSpPr>
          <p:nvPr/>
        </p:nvSpPr>
        <p:spPr>
          <a:xfrm>
            <a:off x="9215557" y="2017206"/>
            <a:ext cx="1682750" cy="215444"/>
          </a:xfrm>
          <a:prstGeom prst="rect">
            <a:avLst/>
          </a:prstGeom>
          <a:noFill/>
          <a:ln>
            <a:noFill/>
          </a:ln>
        </p:spPr>
        <p:txBody>
          <a:bodyPr spcFirstLastPara="1" wrap="square" lIns="0" tIns="0" rIns="0" bIns="0" anchor="t" anchorCtr="0">
            <a:spAutoFit/>
          </a:bodyPr>
          <a:lstStyle/>
          <a:p>
            <a:pPr marL="12700" marR="0" lvl="0" indent="0" algn="just" defTabSz="914400" rtl="0" eaLnBrk="1" fontAlgn="auto" latinLnBrk="0" hangingPunct="1">
              <a:lnSpc>
                <a:spcPct val="100000"/>
              </a:lnSpc>
              <a:spcBef>
                <a:spcPts val="0"/>
              </a:spcBef>
              <a:spcAft>
                <a:spcPts val="0"/>
              </a:spcAft>
              <a:buClrTx/>
              <a:buSzTx/>
              <a:buFontTx/>
              <a:buNone/>
              <a:tabLst/>
              <a:defRPr/>
            </a:pPr>
            <a:r>
              <a:rPr lang="en-GB" sz="1400" b="1">
                <a:solidFill>
                  <a:schemeClr val="accent1">
                    <a:lumMod val="50000"/>
                  </a:schemeClr>
                </a:solidFill>
                <a:latin typeface="Raleway"/>
                <a:ea typeface="Raleway"/>
                <a:cs typeface="Raleway"/>
                <a:sym typeface="Raleway"/>
              </a:rPr>
              <a:t>Experience</a:t>
            </a:r>
            <a:endParaRPr kumimoji="0" lang="en-GB" sz="1400" b="0" i="0" u="none" strike="noStrike" kern="1200" cap="none" spc="0" normalizeH="0" baseline="0" noProof="0">
              <a:ln>
                <a:noFill/>
              </a:ln>
              <a:solidFill>
                <a:schemeClr val="accent1">
                  <a:lumMod val="50000"/>
                </a:schemeClr>
              </a:solidFill>
              <a:effectLst/>
              <a:uLnTx/>
              <a:uFillTx/>
              <a:latin typeface="Raleway"/>
              <a:ea typeface="Raleway"/>
              <a:cs typeface="Raleway"/>
              <a:sym typeface="Raleway"/>
            </a:endParaRPr>
          </a:p>
        </p:txBody>
      </p:sp>
      <p:sp>
        <p:nvSpPr>
          <p:cNvPr id="7" name="Google Shape;34;p1">
            <a:extLst>
              <a:ext uri="{FF2B5EF4-FFF2-40B4-BE49-F238E27FC236}">
                <a16:creationId xmlns:a16="http://schemas.microsoft.com/office/drawing/2014/main" id="{3421D9BD-0C3A-7594-888C-7E84275CF1E5}"/>
              </a:ext>
            </a:extLst>
          </p:cNvPr>
          <p:cNvSpPr txBox="1">
            <a:spLocks noGrp="1" noRot="1" noMove="1" noResize="1" noEditPoints="1" noAdjustHandles="1" noChangeArrowheads="1" noChangeShapeType="1"/>
          </p:cNvSpPr>
          <p:nvPr/>
        </p:nvSpPr>
        <p:spPr>
          <a:xfrm>
            <a:off x="3538729" y="2160093"/>
            <a:ext cx="5268721" cy="861774"/>
          </a:xfrm>
          <a:prstGeom prst="rect">
            <a:avLst/>
          </a:prstGeom>
          <a:noFill/>
          <a:ln>
            <a:noFill/>
          </a:ln>
        </p:spPr>
        <p:txBody>
          <a:bodyPr spcFirstLastPara="1" wrap="square" lIns="0" tIns="0" rIns="0" bIns="0" anchor="t" anchorCtr="0">
            <a:spAutoFit/>
          </a:bodyPr>
          <a:lstStyle/>
          <a:p>
            <a:pPr>
              <a:lnSpc>
                <a:spcPct val="120000"/>
              </a:lnSpc>
              <a:spcAft>
                <a:spcPts val="600"/>
              </a:spcAft>
            </a:pPr>
            <a:r>
              <a:rPr lang="en-GB" sz="85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[Name] is an experienced senior Management Consultant &amp; Product/Portfolio Change Manager with over 25 years experience working in financial services. [Name] has spent a large part of his career in the Securities Services space. He is currently working as a … providing advisory services to help them enhance &amp; optimise their transformation and change strategy, helping them move towards becoming a Product driven organisation as well as leading the execution on their Product change portfolio. </a:t>
            </a:r>
          </a:p>
        </p:txBody>
      </p:sp>
      <p:sp>
        <p:nvSpPr>
          <p:cNvPr id="8" name="Google Shape;36;p1">
            <a:extLst>
              <a:ext uri="{FF2B5EF4-FFF2-40B4-BE49-F238E27FC236}">
                <a16:creationId xmlns:a16="http://schemas.microsoft.com/office/drawing/2014/main" id="{5182E616-A2C2-3E0B-AE24-64103F11D7F6}"/>
              </a:ext>
            </a:extLst>
          </p:cNvPr>
          <p:cNvSpPr txBox="1">
            <a:spLocks noGrp="1" noRot="1" noMove="1" noResize="1" noEditPoints="1" noAdjustHandles="1" noChangeArrowheads="1" noChangeShapeType="1"/>
          </p:cNvSpPr>
          <p:nvPr/>
        </p:nvSpPr>
        <p:spPr>
          <a:xfrm>
            <a:off x="3375025" y="3587258"/>
            <a:ext cx="5432425" cy="935641"/>
          </a:xfrm>
          <a:prstGeom prst="rect">
            <a:avLst/>
          </a:prstGeom>
          <a:noFill/>
          <a:ln>
            <a:noFill/>
          </a:ln>
        </p:spPr>
        <p:txBody>
          <a:bodyPr spcFirstLastPara="1" wrap="square" lIns="0" tIns="0" rIns="0" bIns="0" anchor="t" anchorCtr="0">
            <a:spAutoFit/>
          </a:bodyPr>
          <a:lstStyle/>
          <a:p>
            <a:pPr marL="171450" lvl="0" indent="-171450">
              <a:lnSpc>
                <a:spcPct val="120000"/>
              </a:lnSpc>
              <a:spcAft>
                <a:spcPts val="600"/>
              </a:spcAft>
              <a:buClr>
                <a:srgbClr val="F7931E"/>
              </a:buClr>
              <a:buFontTx/>
              <a:buBlip>
                <a:blip>
                  <a:extLst>
                    <a:ext uri="{96DAC541-7B7A-43D3-8B79-37D633B846F1}">
                      <asvg:svgBlip xmlns:asvg="http://schemas.microsoft.com/office/drawing/2016/SVG/main" r:embed="rId3"/>
                    </a:ext>
                  </a:extLst>
                </a:blip>
              </a:buBlip>
              <a:defRPr/>
            </a:pPr>
            <a:r>
              <a:rPr lang="en-GB" sz="850" b="1" dirty="0">
                <a:solidFill>
                  <a:schemeClr val="accent1">
                    <a:lumMod val="50000"/>
                  </a:schemeClr>
                </a:solidFill>
                <a:uFill>
                  <a:solidFill>
                    <a:srgbClr val="000000"/>
                  </a:solidFill>
                </a:uFill>
                <a:ea typeface="Arial Unicode MS" panose="020B0604020202020204" pitchFamily="34" charset="-128"/>
              </a:rPr>
              <a:t>Company Name </a:t>
            </a:r>
            <a:r>
              <a:rPr lang="en-GB" sz="850" dirty="0">
                <a:solidFill>
                  <a:schemeClr val="accent1">
                    <a:lumMod val="50000"/>
                  </a:schemeClr>
                </a:solidFill>
                <a:uFill>
                  <a:solidFill>
                    <a:srgbClr val="000000"/>
                  </a:solidFill>
                </a:uFill>
                <a:ea typeface="Arial Unicode MS" panose="020B0604020202020204" pitchFamily="34" charset="-128"/>
              </a:rPr>
              <a:t>– Experience details</a:t>
            </a:r>
          </a:p>
          <a:p>
            <a:pPr marL="171450" lvl="0" indent="-171450">
              <a:lnSpc>
                <a:spcPct val="120000"/>
              </a:lnSpc>
              <a:spcAft>
                <a:spcPts val="600"/>
              </a:spcAft>
              <a:buClr>
                <a:srgbClr val="F7931E"/>
              </a:buClr>
              <a:buFontTx/>
              <a:buBlip>
                <a:blip>
                  <a:extLst>
                    <a:ext uri="{96DAC541-7B7A-43D3-8B79-37D633B846F1}">
                      <asvg:svgBlip xmlns:asvg="http://schemas.microsoft.com/office/drawing/2016/SVG/main" r:embed="rId3"/>
                    </a:ext>
                  </a:extLst>
                </a:blip>
              </a:buBlip>
              <a:defRPr/>
            </a:pPr>
            <a:r>
              <a:rPr lang="en-GB" sz="850" b="1" dirty="0">
                <a:solidFill>
                  <a:schemeClr val="accent1">
                    <a:lumMod val="50000"/>
                  </a:schemeClr>
                </a:solidFill>
                <a:uFill>
                  <a:solidFill>
                    <a:srgbClr val="000000"/>
                  </a:solidFill>
                </a:uFill>
                <a:ea typeface="Arial Unicode MS" panose="020B0604020202020204" pitchFamily="34" charset="-128"/>
              </a:rPr>
              <a:t>Company Name </a:t>
            </a:r>
            <a:r>
              <a:rPr lang="en-GB" sz="850" dirty="0">
                <a:solidFill>
                  <a:schemeClr val="accent1">
                    <a:lumMod val="50000"/>
                  </a:schemeClr>
                </a:solidFill>
                <a:uFill>
                  <a:solidFill>
                    <a:srgbClr val="000000"/>
                  </a:solidFill>
                </a:uFill>
                <a:ea typeface="Arial Unicode MS" panose="020B0604020202020204" pitchFamily="34" charset="-128"/>
              </a:rPr>
              <a:t>– Experience details</a:t>
            </a:r>
          </a:p>
          <a:p>
            <a:pPr marL="171450" indent="-171450">
              <a:lnSpc>
                <a:spcPct val="120000"/>
              </a:lnSpc>
              <a:spcAft>
                <a:spcPts val="600"/>
              </a:spcAft>
              <a:buClr>
                <a:srgbClr val="F7931E"/>
              </a:buClr>
              <a:buBlip>
                <a:blip>
                  <a:extLst>
                    <a:ext uri="{96DAC541-7B7A-43D3-8B79-37D633B846F1}">
                      <asvg:svgBlip xmlns:asvg="http://schemas.microsoft.com/office/drawing/2016/SVG/main" r:embed="rId3"/>
                    </a:ext>
                  </a:extLst>
                </a:blip>
              </a:buBlip>
              <a:defRPr/>
            </a:pPr>
            <a:r>
              <a:rPr lang="en-GB" sz="850" b="1" dirty="0">
                <a:solidFill>
                  <a:schemeClr val="accent1">
                    <a:lumMod val="50000"/>
                  </a:schemeClr>
                </a:solidFill>
                <a:uFill>
                  <a:solidFill>
                    <a:srgbClr val="000000"/>
                  </a:solidFill>
                </a:uFill>
                <a:ea typeface="Arial Unicode MS" panose="020B0604020202020204" pitchFamily="34" charset="-128"/>
              </a:rPr>
              <a:t>Company Name </a:t>
            </a:r>
            <a:r>
              <a:rPr lang="en-GB" sz="850" dirty="0">
                <a:solidFill>
                  <a:schemeClr val="accent1">
                    <a:lumMod val="50000"/>
                  </a:schemeClr>
                </a:solidFill>
                <a:uFill>
                  <a:solidFill>
                    <a:srgbClr val="000000"/>
                  </a:solidFill>
                </a:uFill>
                <a:ea typeface="Arial Unicode MS" panose="020B0604020202020204" pitchFamily="34" charset="-128"/>
              </a:rPr>
              <a:t>– Experience details</a:t>
            </a:r>
          </a:p>
          <a:p>
            <a:pPr lvl="0">
              <a:lnSpc>
                <a:spcPct val="120000"/>
              </a:lnSpc>
              <a:spcAft>
                <a:spcPts val="600"/>
              </a:spcAft>
              <a:buClr>
                <a:srgbClr val="F7931E"/>
              </a:buClr>
              <a:defRPr/>
            </a:pPr>
            <a:endParaRPr lang="en-GB" sz="850" dirty="0">
              <a:solidFill>
                <a:schemeClr val="accent1">
                  <a:lumMod val="50000"/>
                </a:schemeClr>
              </a:solidFill>
              <a:uFill>
                <a:solidFill>
                  <a:srgbClr val="000000"/>
                </a:solidFill>
              </a:uFill>
              <a:ea typeface="Arial Unicode MS" panose="020B0604020202020204" pitchFamily="34" charset="-128"/>
            </a:endParaRPr>
          </a:p>
        </p:txBody>
      </p:sp>
      <p:sp>
        <p:nvSpPr>
          <p:cNvPr id="9" name="Google Shape;36;p1">
            <a:extLst>
              <a:ext uri="{FF2B5EF4-FFF2-40B4-BE49-F238E27FC236}">
                <a16:creationId xmlns:a16="http://schemas.microsoft.com/office/drawing/2014/main" id="{B0DE083E-76AB-241A-9958-00D8FAC5E105}"/>
              </a:ext>
            </a:extLst>
          </p:cNvPr>
          <p:cNvSpPr txBox="1">
            <a:spLocks noGrp="1" noRot="1" noMove="1" noResize="1" noEditPoints="1" noAdjustHandles="1" noChangeArrowheads="1" noChangeShapeType="1"/>
          </p:cNvSpPr>
          <p:nvPr/>
        </p:nvSpPr>
        <p:spPr>
          <a:xfrm>
            <a:off x="9227147" y="2368768"/>
            <a:ext cx="2208606" cy="3854901"/>
          </a:xfrm>
          <a:prstGeom prst="rect">
            <a:avLst/>
          </a:prstGeom>
          <a:noFill/>
          <a:ln>
            <a:noFill/>
          </a:ln>
        </p:spPr>
        <p:txBody>
          <a:bodyPr spcFirstLastPara="1" wrap="square" lIns="0" tIns="0" rIns="0" bIns="0" anchor="t" anchorCtr="0">
            <a:spAutoFit/>
          </a:bodyPr>
          <a:lstStyle/>
          <a:p>
            <a:pPr>
              <a:lnSpc>
                <a:spcPct val="120000"/>
              </a:lnSpc>
              <a:spcAft>
                <a:spcPts val="900"/>
              </a:spcAft>
            </a:pPr>
            <a:r>
              <a:rPr lang="en-GB" sz="100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[Name]’s key strengths include aligning transformation to organisations key commercial objectives, delivering the required return on investment as well as optimising the way companies execute transformation enabling delivery of product change on time, budget and of the required quality.</a:t>
            </a:r>
          </a:p>
          <a:p>
            <a:pPr>
              <a:lnSpc>
                <a:spcPct val="120000"/>
              </a:lnSpc>
              <a:spcAft>
                <a:spcPts val="900"/>
              </a:spcAft>
            </a:pPr>
            <a:r>
              <a:rPr lang="en-GB" sz="100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X is able to operate in high profile environments managing senior stakeholders including c-suite level as well as internal teams and external vendors/consultancies.</a:t>
            </a:r>
            <a:r>
              <a:rPr lang="en-GB" sz="1000" dirty="0">
                <a:solidFill>
                  <a:schemeClr val="accent1">
                    <a:lumMod val="50000"/>
                  </a:schemeClr>
                </a:solidFill>
                <a:uFill>
                  <a:solidFill>
                    <a:srgbClr val="000000"/>
                  </a:solidFill>
                </a:uFill>
                <a:ea typeface="Arial" panose="020B0604020202020204" pitchFamily="34" charset="0"/>
                <a:cs typeface="Arial Unicode MS" panose="020B0604020202020204" pitchFamily="34" charset="-128"/>
              </a:rPr>
              <a:t> </a:t>
            </a:r>
            <a:endParaRPr lang="en-GB" sz="100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endParaRPr>
          </a:p>
          <a:p>
            <a:pPr>
              <a:lnSpc>
                <a:spcPct val="120000"/>
              </a:lnSpc>
              <a:spcAft>
                <a:spcPts val="900"/>
              </a:spcAft>
            </a:pPr>
            <a:r>
              <a:rPr lang="en-GB" sz="100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The large complex portfolios/products X has managed have included ($100mil+) budgets across the business, operations and technology. </a:t>
            </a:r>
          </a:p>
        </p:txBody>
      </p:sp>
      <p:sp>
        <p:nvSpPr>
          <p:cNvPr id="10" name="TextBox 9">
            <a:extLst>
              <a:ext uri="{FF2B5EF4-FFF2-40B4-BE49-F238E27FC236}">
                <a16:creationId xmlns:a16="http://schemas.microsoft.com/office/drawing/2014/main" id="{259B6EC9-8DF3-C858-5D94-A6FD925E3D91}"/>
              </a:ext>
            </a:extLst>
          </p:cNvPr>
          <p:cNvSpPr txBox="1">
            <a:spLocks noGrp="1" noRot="1" noMove="1" noResize="1" noEditPoints="1" noAdjustHandles="1" noChangeArrowheads="1" noChangeShapeType="1"/>
          </p:cNvSpPr>
          <p:nvPr/>
        </p:nvSpPr>
        <p:spPr>
          <a:xfrm>
            <a:off x="516759" y="563201"/>
            <a:ext cx="4113753" cy="419443"/>
          </a:xfrm>
          <a:prstGeom prst="rect">
            <a:avLst/>
          </a:prstGeom>
          <a:noFill/>
        </p:spPr>
        <p:txBody>
          <a:bodyPr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Raleway" pitchFamily="2" charset="77"/>
                <a:ea typeface="+mn-ea"/>
                <a:cs typeface="Algerian" panose="020F0502020204030204" pitchFamily="34" charset="0"/>
              </a:rPr>
              <a:t>Advisory Profile</a:t>
            </a:r>
          </a:p>
        </p:txBody>
      </p:sp>
      <p:sp>
        <p:nvSpPr>
          <p:cNvPr id="11" name="TextBox 10">
            <a:extLst>
              <a:ext uri="{FF2B5EF4-FFF2-40B4-BE49-F238E27FC236}">
                <a16:creationId xmlns:a16="http://schemas.microsoft.com/office/drawing/2014/main" id="{7423C360-BFCE-E6F0-3D81-21DFAFED819C}"/>
              </a:ext>
            </a:extLst>
          </p:cNvPr>
          <p:cNvSpPr txBox="1">
            <a:spLocks noGrp="1" noRot="1" noMove="1" noResize="1" noEditPoints="1" noAdjustHandles="1" noChangeArrowheads="1" noChangeShapeType="1"/>
          </p:cNvSpPr>
          <p:nvPr/>
        </p:nvSpPr>
        <p:spPr>
          <a:xfrm>
            <a:off x="756247" y="3724418"/>
            <a:ext cx="2241802" cy="1913278"/>
          </a:xfrm>
          <a:prstGeom prst="rect">
            <a:avLst/>
          </a:prstGeom>
          <a:noFill/>
        </p:spPr>
        <p:txBody>
          <a:bodyPr wrap="square" lIns="0" tIns="0" rIns="0" bIns="0" rtlCol="0">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rPr>
              <a:t>[email]</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rPr>
              <a:t>+44 (0) XXXXXX </a:t>
            </a:r>
          </a:p>
          <a:p>
            <a:pPr marL="0" marR="0" lvl="0" indent="0" algn="l" defTabSz="914400" rtl="0" eaLnBrk="1" fontAlgn="auto" latinLnBrk="0" hangingPunct="1">
              <a:lnSpc>
                <a:spcPct val="120000"/>
              </a:lnSpc>
              <a:spcBef>
                <a:spcPts val="600"/>
              </a:spcBef>
              <a:spcAft>
                <a:spcPts val="0"/>
              </a:spcAft>
              <a:buClrTx/>
              <a:buSzTx/>
              <a:buFontTx/>
              <a:buNone/>
              <a:tabLst/>
              <a:defRPr/>
            </a:pPr>
            <a:r>
              <a:rPr kumimoji="0" lang="en-GB" sz="1000" b="1"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rPr>
              <a:t>Technical Skills: </a:t>
            </a:r>
          </a:p>
          <a:p>
            <a:pPr marL="171450" marR="0" lvl="0" indent="-171450" algn="l" defTabSz="914400" rtl="0" eaLnBrk="1" fontAlgn="auto" latinLnBrk="0" hangingPunct="1">
              <a:lnSpc>
                <a:spcPct val="120000"/>
              </a:lnSpc>
              <a:spcBef>
                <a:spcPts val="0"/>
              </a:spcBef>
              <a:spcAft>
                <a:spcPts val="0"/>
              </a:spcAft>
              <a:buClr>
                <a:srgbClr val="27C3F3"/>
              </a:buClr>
              <a:buSzTx/>
              <a:buFontTx/>
              <a:buBlip>
                <a:blip>
                  <a:extLst>
                    <a:ext uri="{96DAC541-7B7A-43D3-8B79-37D633B846F1}">
                      <asvg:svgBlip xmlns:asvg="http://schemas.microsoft.com/office/drawing/2016/SVG/main" r:embed="rId3"/>
                    </a:ext>
                  </a:extLst>
                </a:blip>
              </a:buBlip>
              <a:tabLst/>
              <a:defRPr/>
            </a:pPr>
            <a:r>
              <a:rPr lang="en-GB" sz="1000" dirty="0">
                <a:solidFill>
                  <a:schemeClr val="accent1">
                    <a:lumMod val="50000"/>
                  </a:schemeClr>
                </a:solidFill>
                <a:latin typeface="Raleway" pitchFamily="2" charset="77"/>
                <a:cs typeface="Algerian" panose="020F0502020204030204" pitchFamily="34" charset="0"/>
              </a:rPr>
              <a:t>Insert</a:t>
            </a:r>
          </a:p>
          <a:p>
            <a:pPr marL="171450" marR="0" lvl="0" indent="-171450" algn="l" defTabSz="914400" rtl="0" eaLnBrk="1" fontAlgn="auto" latinLnBrk="0" hangingPunct="1">
              <a:lnSpc>
                <a:spcPct val="120000"/>
              </a:lnSpc>
              <a:spcBef>
                <a:spcPts val="0"/>
              </a:spcBef>
              <a:spcAft>
                <a:spcPts val="0"/>
              </a:spcAft>
              <a:buClr>
                <a:srgbClr val="27C3F3"/>
              </a:buClr>
              <a:buSzTx/>
              <a:buFontTx/>
              <a:buBlip>
                <a:blip>
                  <a:extLst>
                    <a:ext uri="{96DAC541-7B7A-43D3-8B79-37D633B846F1}">
                      <asvg:svgBlip xmlns:asvg="http://schemas.microsoft.com/office/drawing/2016/SVG/main" r:embed="rId3"/>
                    </a:ext>
                  </a:extLst>
                </a:blip>
              </a:buBlip>
              <a:tabLst/>
              <a:defRPr/>
            </a:pPr>
            <a:r>
              <a:rPr kumimoji="0" lang="en-GB" sz="1000" b="0"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rPr>
              <a:t>Insert</a:t>
            </a:r>
          </a:p>
          <a:p>
            <a:pPr marL="171450" marR="0" lvl="0" indent="-171450" algn="l" defTabSz="914400" rtl="0" eaLnBrk="1" fontAlgn="auto" latinLnBrk="0" hangingPunct="1">
              <a:lnSpc>
                <a:spcPct val="120000"/>
              </a:lnSpc>
              <a:spcBef>
                <a:spcPts val="0"/>
              </a:spcBef>
              <a:spcAft>
                <a:spcPts val="0"/>
              </a:spcAft>
              <a:buClr>
                <a:srgbClr val="27C3F3"/>
              </a:buClr>
              <a:buSzTx/>
              <a:buFontTx/>
              <a:buBlip>
                <a:blip>
                  <a:extLst>
                    <a:ext uri="{96DAC541-7B7A-43D3-8B79-37D633B846F1}">
                      <asvg:svgBlip xmlns:asvg="http://schemas.microsoft.com/office/drawing/2016/SVG/main" r:embed="rId3"/>
                    </a:ext>
                  </a:extLst>
                </a:blip>
              </a:buBlip>
              <a:tabLst/>
              <a:defRPr/>
            </a:pPr>
            <a:r>
              <a:rPr lang="en-GB" sz="1000" dirty="0">
                <a:solidFill>
                  <a:schemeClr val="accent1">
                    <a:lumMod val="50000"/>
                  </a:schemeClr>
                </a:solidFill>
                <a:latin typeface="Raleway" pitchFamily="2" charset="77"/>
                <a:cs typeface="Algerian" panose="020F0502020204030204" pitchFamily="34" charset="0"/>
              </a:rPr>
              <a:t>Insert</a:t>
            </a:r>
            <a:endParaRPr kumimoji="0" lang="en-GB" sz="1000" b="0"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endParaRPr>
          </a:p>
          <a:p>
            <a:pPr marL="0" marR="0" lvl="0" indent="0" algn="l" defTabSz="914400" rtl="0" eaLnBrk="1" fontAlgn="auto" latinLnBrk="0" hangingPunct="1">
              <a:lnSpc>
                <a:spcPct val="120000"/>
              </a:lnSpc>
              <a:spcBef>
                <a:spcPts val="600"/>
              </a:spcBef>
              <a:spcAft>
                <a:spcPts val="0"/>
              </a:spcAft>
              <a:buClrTx/>
              <a:buSzTx/>
              <a:buFontTx/>
              <a:buNone/>
              <a:tabLst/>
              <a:defRPr/>
            </a:pPr>
            <a:r>
              <a:rPr kumimoji="0" lang="en-GB" sz="1000" b="1"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rPr>
              <a:t>Qualifications: </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rPr>
              <a:t>Insert</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GB" sz="1050" b="0"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rPr>
              <a:t>Insert</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GB" sz="1050" b="1"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endParaRPr>
          </a:p>
        </p:txBody>
      </p:sp>
    </p:spTree>
    <p:extLst>
      <p:ext uri="{BB962C8B-B14F-4D97-AF65-F5344CB8AC3E}">
        <p14:creationId xmlns:p14="http://schemas.microsoft.com/office/powerpoint/2010/main" val="3670752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66CB2E1-3F85-495C-F2E2-8EE68AFF6B4D}"/>
              </a:ext>
            </a:extLst>
          </p:cNvPr>
          <p:cNvPicPr>
            <a:picLocks noChangeAspect="1"/>
          </p:cNvPicPr>
          <p:nvPr/>
        </p:nvPicPr>
        <p:blipFill>
          <a:blip r:embed="rId3" cstate="print">
            <a:extLst>
              <a:ext uri="{28A0092B-C50C-407E-A947-70E740481C1C}">
                <a14:useLocalDpi xmlns:a14="http://schemas.microsoft.com/office/drawing/2010/main" val="0"/>
              </a:ext>
            </a:extLst>
          </a:blip>
          <a:srcRect l="24274" t="9702" r="6203" b="20775"/>
          <a:stretch>
            <a:fillRect/>
          </a:stretch>
        </p:blipFill>
        <p:spPr>
          <a:xfrm>
            <a:off x="1293693" y="1833260"/>
            <a:ext cx="1116252" cy="1116252"/>
          </a:xfrm>
          <a:prstGeom prst="ellipse">
            <a:avLst/>
          </a:prstGeom>
        </p:spPr>
      </p:pic>
      <p:sp>
        <p:nvSpPr>
          <p:cNvPr id="3" name="Google Shape;35;p1">
            <a:extLst>
              <a:ext uri="{FF2B5EF4-FFF2-40B4-BE49-F238E27FC236}">
                <a16:creationId xmlns:a16="http://schemas.microsoft.com/office/drawing/2014/main" id="{07A1DA38-1E29-C8B9-CDC5-608DCBCEF56E}"/>
              </a:ext>
            </a:extLst>
          </p:cNvPr>
          <p:cNvSpPr txBox="1">
            <a:spLocks noGrp="1" noRot="1" noMove="1" noResize="1" noEditPoints="1" noAdjustHandles="1" noChangeArrowheads="1" noChangeShapeType="1"/>
          </p:cNvSpPr>
          <p:nvPr/>
        </p:nvSpPr>
        <p:spPr>
          <a:xfrm>
            <a:off x="595357" y="3029190"/>
            <a:ext cx="2512924" cy="300723"/>
          </a:xfrm>
          <a:prstGeom prst="rect">
            <a:avLst/>
          </a:prstGeom>
          <a:noFill/>
          <a:ln>
            <a:noFill/>
          </a:ln>
        </p:spPr>
        <p:txBody>
          <a:bodyPr spcFirstLastPara="1" wrap="square" lIns="0" tIns="53975" rIns="0" bIns="0" anchor="t" anchorCtr="0">
            <a:spAutoFit/>
          </a:bodyPr>
          <a:lstStyle/>
          <a:p>
            <a:pPr marL="12700" marR="0" lvl="0" indent="0" algn="ctr" defTabSz="722313"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chemeClr val="accent1">
                    <a:lumMod val="50000"/>
                  </a:schemeClr>
                </a:solidFill>
                <a:effectLst/>
                <a:uLnTx/>
                <a:uFillTx/>
                <a:latin typeface="Raleway"/>
                <a:ea typeface="Raleway"/>
                <a:cs typeface="Raleway"/>
                <a:sym typeface="Raleway"/>
              </a:rPr>
              <a:t>Eric Williamson</a:t>
            </a:r>
          </a:p>
        </p:txBody>
      </p:sp>
      <p:sp>
        <p:nvSpPr>
          <p:cNvPr id="4" name="Google Shape;35;p1">
            <a:extLst>
              <a:ext uri="{FF2B5EF4-FFF2-40B4-BE49-F238E27FC236}">
                <a16:creationId xmlns:a16="http://schemas.microsoft.com/office/drawing/2014/main" id="{6320FF25-8288-AD9C-3D49-02C5A1C85E3D}"/>
              </a:ext>
            </a:extLst>
          </p:cNvPr>
          <p:cNvSpPr txBox="1">
            <a:spLocks noGrp="1" noRot="1" noMove="1" noResize="1" noEditPoints="1" noAdjustHandles="1" noChangeArrowheads="1" noChangeShapeType="1"/>
          </p:cNvSpPr>
          <p:nvPr/>
        </p:nvSpPr>
        <p:spPr>
          <a:xfrm>
            <a:off x="3377021" y="3283070"/>
            <a:ext cx="4382214" cy="215444"/>
          </a:xfrm>
          <a:prstGeom prst="rect">
            <a:avLst/>
          </a:prstGeom>
          <a:noFill/>
          <a:ln>
            <a:noFill/>
          </a:ln>
        </p:spPr>
        <p:txBody>
          <a:bodyPr spcFirstLastPara="1" wrap="square" lIns="0" tIns="0" rIns="0" bIns="0" anchor="t" anchorCtr="0">
            <a:spAutoFit/>
          </a:bodyPr>
          <a:lstStyle/>
          <a:p>
            <a:pPr marL="12700" marR="0" lvl="0" indent="0" algn="just" defTabSz="914400" rtl="0" eaLnBrk="1" fontAlgn="auto" latinLnBrk="0" hangingPunct="1">
              <a:lnSpc>
                <a:spcPct val="100000"/>
              </a:lnSpc>
              <a:spcBef>
                <a:spcPts val="0"/>
              </a:spcBef>
              <a:spcAft>
                <a:spcPts val="0"/>
              </a:spcAft>
              <a:buClrTx/>
              <a:buSzTx/>
              <a:buFontTx/>
              <a:buNone/>
              <a:tabLst/>
              <a:defRPr/>
            </a:pPr>
            <a:r>
              <a:rPr lang="en-GB" sz="1400" b="1" dirty="0">
                <a:solidFill>
                  <a:schemeClr val="accent1">
                    <a:lumMod val="50000"/>
                  </a:schemeClr>
                </a:solidFill>
                <a:latin typeface="Raleway"/>
                <a:sym typeface="Raleway"/>
              </a:rPr>
              <a:t>Relevant Engagements</a:t>
            </a:r>
            <a:endParaRPr kumimoji="0" lang="en-GB" sz="1400" b="1" i="0" u="none" strike="noStrike" kern="1200" cap="none" spc="0" normalizeH="0" baseline="0" noProof="0" dirty="0">
              <a:ln>
                <a:noFill/>
              </a:ln>
              <a:solidFill>
                <a:schemeClr val="accent1">
                  <a:lumMod val="50000"/>
                </a:schemeClr>
              </a:solidFill>
              <a:effectLst/>
              <a:uLnTx/>
              <a:uFillTx/>
              <a:latin typeface="Raleway"/>
              <a:ea typeface="+mn-ea"/>
              <a:cs typeface="+mn-cs"/>
              <a:sym typeface="Raleway"/>
            </a:endParaRPr>
          </a:p>
        </p:txBody>
      </p:sp>
      <p:sp>
        <p:nvSpPr>
          <p:cNvPr id="5" name="TextBox 4">
            <a:extLst>
              <a:ext uri="{FF2B5EF4-FFF2-40B4-BE49-F238E27FC236}">
                <a16:creationId xmlns:a16="http://schemas.microsoft.com/office/drawing/2014/main" id="{BE072885-DB6F-8A0F-99A9-8103961FCDDA}"/>
              </a:ext>
            </a:extLst>
          </p:cNvPr>
          <p:cNvSpPr txBox="1">
            <a:spLocks noGrp="1" noRot="1" noMove="1" noResize="1" noEditPoints="1" noAdjustHandles="1" noChangeArrowheads="1" noChangeShapeType="1"/>
          </p:cNvSpPr>
          <p:nvPr/>
        </p:nvSpPr>
        <p:spPr>
          <a:xfrm>
            <a:off x="3377021" y="1825460"/>
            <a:ext cx="4382214" cy="215444"/>
          </a:xfrm>
          <a:prstGeom prst="rect">
            <a:avLst/>
          </a:prstGeom>
          <a:noFill/>
        </p:spPr>
        <p:txBody>
          <a:bodyPr wrap="square" lIns="0" tIns="0" rIns="0" bIns="0">
            <a:spAutoFit/>
          </a:bodyPr>
          <a:lstStyle/>
          <a:p>
            <a:pPr marL="0" marR="0" lvl="0" indent="0" algn="just" defTabSz="914400" rtl="0" eaLnBrk="1" fontAlgn="auto" latinLnBrk="0" hangingPunct="1">
              <a:lnSpc>
                <a:spcPct val="100000"/>
              </a:lnSpc>
              <a:spcBef>
                <a:spcPts val="0"/>
              </a:spcBef>
              <a:spcAft>
                <a:spcPts val="0"/>
              </a:spcAft>
              <a:buClr>
                <a:srgbClr val="2C2E82"/>
              </a:buClr>
              <a:buSzPts val="1050"/>
              <a:buFont typeface="Arial"/>
              <a:buNone/>
              <a:tabLst/>
              <a:defRPr/>
            </a:pPr>
            <a:r>
              <a:rPr kumimoji="0" lang="en-GB" sz="1400" b="1" i="0" u="none" strike="noStrike" kern="1200" cap="none" spc="0" normalizeH="0" baseline="0" noProof="0">
                <a:ln>
                  <a:noFill/>
                </a:ln>
                <a:solidFill>
                  <a:schemeClr val="accent1">
                    <a:lumMod val="50000"/>
                  </a:schemeClr>
                </a:solidFill>
                <a:effectLst/>
                <a:uLnTx/>
                <a:uFillTx/>
                <a:latin typeface="Raleway"/>
                <a:ea typeface="Raleway"/>
                <a:cs typeface="Raleway"/>
                <a:sym typeface="Raleway"/>
              </a:rPr>
              <a:t>Summary </a:t>
            </a:r>
          </a:p>
        </p:txBody>
      </p:sp>
      <p:sp>
        <p:nvSpPr>
          <p:cNvPr id="6" name="Google Shape;35;p1">
            <a:extLst>
              <a:ext uri="{FF2B5EF4-FFF2-40B4-BE49-F238E27FC236}">
                <a16:creationId xmlns:a16="http://schemas.microsoft.com/office/drawing/2014/main" id="{C9A497BC-DFC3-A0FC-F226-A77258644F73}"/>
              </a:ext>
            </a:extLst>
          </p:cNvPr>
          <p:cNvSpPr txBox="1">
            <a:spLocks noGrp="1" noRot="1" noMove="1" noResize="1" noEditPoints="1" noAdjustHandles="1" noChangeArrowheads="1" noChangeShapeType="1"/>
          </p:cNvSpPr>
          <p:nvPr/>
        </p:nvSpPr>
        <p:spPr>
          <a:xfrm>
            <a:off x="9215557" y="2017206"/>
            <a:ext cx="1682750" cy="215444"/>
          </a:xfrm>
          <a:prstGeom prst="rect">
            <a:avLst/>
          </a:prstGeom>
          <a:noFill/>
          <a:ln>
            <a:noFill/>
          </a:ln>
        </p:spPr>
        <p:txBody>
          <a:bodyPr spcFirstLastPara="1" wrap="square" lIns="0" tIns="0" rIns="0" bIns="0" anchor="t" anchorCtr="0">
            <a:spAutoFit/>
          </a:bodyPr>
          <a:lstStyle/>
          <a:p>
            <a:pPr marL="12700" marR="0" lvl="0" indent="0" algn="just" defTabSz="914400" rtl="0" eaLnBrk="1" fontAlgn="auto" latinLnBrk="0" hangingPunct="1">
              <a:lnSpc>
                <a:spcPct val="100000"/>
              </a:lnSpc>
              <a:spcBef>
                <a:spcPts val="0"/>
              </a:spcBef>
              <a:spcAft>
                <a:spcPts val="0"/>
              </a:spcAft>
              <a:buClrTx/>
              <a:buSzTx/>
              <a:buFontTx/>
              <a:buNone/>
              <a:tabLst/>
              <a:defRPr/>
            </a:pPr>
            <a:r>
              <a:rPr lang="en-GB" sz="1400" b="1">
                <a:solidFill>
                  <a:schemeClr val="accent1">
                    <a:lumMod val="50000"/>
                  </a:schemeClr>
                </a:solidFill>
                <a:latin typeface="Raleway"/>
                <a:ea typeface="Raleway"/>
                <a:cs typeface="Raleway"/>
                <a:sym typeface="Raleway"/>
              </a:rPr>
              <a:t>Experience</a:t>
            </a:r>
            <a:endParaRPr kumimoji="0" lang="en-GB" sz="1400" b="0" i="0" u="none" strike="noStrike" kern="1200" cap="none" spc="0" normalizeH="0" baseline="0" noProof="0">
              <a:ln>
                <a:noFill/>
              </a:ln>
              <a:solidFill>
                <a:schemeClr val="accent1">
                  <a:lumMod val="50000"/>
                </a:schemeClr>
              </a:solidFill>
              <a:effectLst/>
              <a:uLnTx/>
              <a:uFillTx/>
              <a:latin typeface="Raleway"/>
              <a:ea typeface="Raleway"/>
              <a:cs typeface="Raleway"/>
              <a:sym typeface="Raleway"/>
            </a:endParaRPr>
          </a:p>
        </p:txBody>
      </p:sp>
      <p:sp>
        <p:nvSpPr>
          <p:cNvPr id="7" name="Google Shape;34;p1">
            <a:extLst>
              <a:ext uri="{FF2B5EF4-FFF2-40B4-BE49-F238E27FC236}">
                <a16:creationId xmlns:a16="http://schemas.microsoft.com/office/drawing/2014/main" id="{3421D9BD-0C3A-7594-888C-7E84275CF1E5}"/>
              </a:ext>
            </a:extLst>
          </p:cNvPr>
          <p:cNvSpPr txBox="1">
            <a:spLocks noGrp="1" noRot="1" noMove="1" noResize="1" noEditPoints="1" noAdjustHandles="1" noChangeArrowheads="1" noChangeShapeType="1"/>
          </p:cNvSpPr>
          <p:nvPr/>
        </p:nvSpPr>
        <p:spPr>
          <a:xfrm>
            <a:off x="3538729" y="2160093"/>
            <a:ext cx="5268721" cy="1018740"/>
          </a:xfrm>
          <a:prstGeom prst="rect">
            <a:avLst/>
          </a:prstGeom>
          <a:noFill/>
          <a:ln>
            <a:noFill/>
          </a:ln>
        </p:spPr>
        <p:txBody>
          <a:bodyPr spcFirstLastPara="1" wrap="square" lIns="0" tIns="0" rIns="0" bIns="0" anchor="t" anchorCtr="0">
            <a:spAutoFit/>
          </a:bodyPr>
          <a:lstStyle/>
          <a:p>
            <a:pPr algn="just">
              <a:lnSpc>
                <a:spcPct val="120000"/>
              </a:lnSpc>
              <a:spcAft>
                <a:spcPts val="600"/>
              </a:spcAft>
            </a:pPr>
            <a:r>
              <a:rPr lang="en-GB" sz="85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Eric is a </a:t>
            </a:r>
            <a:r>
              <a:rPr lang="en-US" sz="85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senior risk, compliance, and regulatory affairs leader with more than 25 years of experience spanning financial regulation, enterprise risk management, financial crime compliance, and capital markets. A former FCA Manager, he combines deep regulatory expertise with extensive commercial leadership experience gained across global banking </a:t>
            </a:r>
            <a:r>
              <a:rPr lang="en-US" sz="850" dirty="0" err="1">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organisations</a:t>
            </a:r>
            <a:r>
              <a:rPr lang="en-US" sz="85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 including Wells Fargo, Bank of America and JP Morgan. Eric brings specialist expertise in financial crime, enterprise risk management, digital asset regulation, AML/CFT, governance and regulatory transformation. </a:t>
            </a:r>
            <a:endParaRPr lang="en-GB" sz="85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endParaRPr>
          </a:p>
        </p:txBody>
      </p:sp>
      <p:sp>
        <p:nvSpPr>
          <p:cNvPr id="8" name="Google Shape;36;p1">
            <a:extLst>
              <a:ext uri="{FF2B5EF4-FFF2-40B4-BE49-F238E27FC236}">
                <a16:creationId xmlns:a16="http://schemas.microsoft.com/office/drawing/2014/main" id="{5182E616-A2C2-3E0B-AE24-64103F11D7F6}"/>
              </a:ext>
            </a:extLst>
          </p:cNvPr>
          <p:cNvSpPr txBox="1">
            <a:spLocks noGrp="1" noRot="1" noMove="1" noResize="1" noEditPoints="1" noAdjustHandles="1" noChangeArrowheads="1" noChangeShapeType="1"/>
          </p:cNvSpPr>
          <p:nvPr/>
        </p:nvSpPr>
        <p:spPr>
          <a:xfrm>
            <a:off x="3375025" y="3587258"/>
            <a:ext cx="5432425" cy="2819233"/>
          </a:xfrm>
          <a:prstGeom prst="rect">
            <a:avLst/>
          </a:prstGeom>
          <a:noFill/>
          <a:ln>
            <a:noFill/>
          </a:ln>
        </p:spPr>
        <p:txBody>
          <a:bodyPr spcFirstLastPara="1" wrap="square" lIns="0" tIns="0" rIns="0" bIns="0" anchor="t" anchorCtr="0">
            <a:spAutoFit/>
          </a:bodyPr>
          <a:lstStyle/>
          <a:p>
            <a:pPr marL="171450" indent="-171450">
              <a:lnSpc>
                <a:spcPct val="120000"/>
              </a:lnSpc>
              <a:spcAft>
                <a:spcPts val="600"/>
              </a:spcAft>
              <a:buClr>
                <a:srgbClr val="F7931E"/>
              </a:buClr>
              <a:buBlip>
                <a:blip>
                  <a:extLst>
                    <a:ext uri="{96DAC541-7B7A-43D3-8B79-37D633B846F1}">
                      <asvg:svgBlip xmlns:asvg="http://schemas.microsoft.com/office/drawing/2016/SVG/main" r:embed="rId4"/>
                    </a:ext>
                  </a:extLst>
                </a:blip>
              </a:buBlip>
              <a:defRPr/>
            </a:pPr>
            <a:r>
              <a:rPr lang="en-GB" sz="850" b="1" dirty="0">
                <a:solidFill>
                  <a:schemeClr val="accent1">
                    <a:lumMod val="50000"/>
                  </a:schemeClr>
                </a:solidFill>
                <a:uFill>
                  <a:solidFill>
                    <a:srgbClr val="000000"/>
                  </a:solidFill>
                </a:uFill>
                <a:ea typeface="Arial Unicode MS" panose="020B0604020202020204" pitchFamily="34" charset="-128"/>
              </a:rPr>
              <a:t>The Digital Commonwealth </a:t>
            </a:r>
            <a:r>
              <a:rPr lang="en-GB" sz="850" dirty="0">
                <a:solidFill>
                  <a:schemeClr val="accent1">
                    <a:lumMod val="50000"/>
                  </a:schemeClr>
                </a:solidFill>
                <a:uFill>
                  <a:solidFill>
                    <a:srgbClr val="000000"/>
                  </a:solidFill>
                </a:uFill>
                <a:ea typeface="Arial Unicode MS" panose="020B0604020202020204" pitchFamily="34" charset="-128"/>
              </a:rPr>
              <a:t>– Director of Compliance and Risk. Leads enterprise-wide risk, governance, ESG, and regulatory strategy across AI, blockchain, digital assets, </a:t>
            </a:r>
            <a:r>
              <a:rPr lang="en-GB" sz="850" dirty="0" err="1">
                <a:solidFill>
                  <a:schemeClr val="accent1">
                    <a:lumMod val="50000"/>
                  </a:schemeClr>
                </a:solidFill>
                <a:uFill>
                  <a:solidFill>
                    <a:srgbClr val="000000"/>
                  </a:solidFill>
                </a:uFill>
                <a:ea typeface="Arial Unicode MS" panose="020B0604020202020204" pitchFamily="34" charset="-128"/>
              </a:rPr>
              <a:t>DePIN</a:t>
            </a:r>
            <a:r>
              <a:rPr lang="en-GB" sz="850" dirty="0">
                <a:solidFill>
                  <a:schemeClr val="accent1">
                    <a:lumMod val="50000"/>
                  </a:schemeClr>
                </a:solidFill>
                <a:uFill>
                  <a:solidFill>
                    <a:srgbClr val="000000"/>
                  </a:solidFill>
                </a:uFill>
                <a:ea typeface="Arial Unicode MS" panose="020B0604020202020204" pitchFamily="34" charset="-128"/>
              </a:rPr>
              <a:t>, and Web3 sectors. Advises firms on FCA compliance, financial promotions, stablecoin regulation, </a:t>
            </a:r>
            <a:r>
              <a:rPr lang="en-GB" sz="850" dirty="0" err="1">
                <a:solidFill>
                  <a:schemeClr val="accent1">
                    <a:lumMod val="50000"/>
                  </a:schemeClr>
                </a:solidFill>
                <a:uFill>
                  <a:solidFill>
                    <a:srgbClr val="000000"/>
                  </a:solidFill>
                </a:uFill>
                <a:ea typeface="Arial Unicode MS" panose="020B0604020202020204" pitchFamily="34" charset="-128"/>
              </a:rPr>
              <a:t>MiCA</a:t>
            </a:r>
            <a:r>
              <a:rPr lang="en-GB" sz="850" dirty="0">
                <a:solidFill>
                  <a:schemeClr val="accent1">
                    <a:lumMod val="50000"/>
                  </a:schemeClr>
                </a:solidFill>
                <a:uFill>
                  <a:solidFill>
                    <a:srgbClr val="000000"/>
                  </a:solidFill>
                </a:uFill>
                <a:ea typeface="Arial Unicode MS" panose="020B0604020202020204" pitchFamily="34" charset="-128"/>
              </a:rPr>
              <a:t> implementation, and emerging digital asset frameworks.</a:t>
            </a:r>
          </a:p>
          <a:p>
            <a:pPr marL="171450" lvl="0" indent="-171450">
              <a:lnSpc>
                <a:spcPct val="120000"/>
              </a:lnSpc>
              <a:spcAft>
                <a:spcPts val="600"/>
              </a:spcAft>
              <a:buClr>
                <a:srgbClr val="F7931E"/>
              </a:buClr>
              <a:buFontTx/>
              <a:buBlip>
                <a:blip>
                  <a:extLst>
                    <a:ext uri="{96DAC541-7B7A-43D3-8B79-37D633B846F1}">
                      <asvg:svgBlip xmlns:asvg="http://schemas.microsoft.com/office/drawing/2016/SVG/main" r:embed="rId4"/>
                    </a:ext>
                  </a:extLst>
                </a:blip>
              </a:buBlip>
              <a:defRPr/>
            </a:pPr>
            <a:r>
              <a:rPr lang="en-GB" sz="850" b="1" dirty="0">
                <a:solidFill>
                  <a:schemeClr val="accent1">
                    <a:lumMod val="50000"/>
                  </a:schemeClr>
                </a:solidFill>
                <a:uFill>
                  <a:solidFill>
                    <a:srgbClr val="000000"/>
                  </a:solidFill>
                </a:uFill>
                <a:ea typeface="Arial Unicode MS" panose="020B0604020202020204" pitchFamily="34" charset="-128"/>
              </a:rPr>
              <a:t>Financial Conduct Authority </a:t>
            </a:r>
            <a:r>
              <a:rPr lang="en-GB" sz="850" dirty="0">
                <a:solidFill>
                  <a:schemeClr val="accent1">
                    <a:lumMod val="50000"/>
                  </a:schemeClr>
                </a:solidFill>
                <a:uFill>
                  <a:solidFill>
                    <a:srgbClr val="000000"/>
                  </a:solidFill>
                </a:uFill>
                <a:ea typeface="Arial Unicode MS" panose="020B0604020202020204" pitchFamily="34" charset="-128"/>
              </a:rPr>
              <a:t>– </a:t>
            </a:r>
            <a:r>
              <a:rPr lang="en-US" sz="850" dirty="0">
                <a:solidFill>
                  <a:schemeClr val="accent1">
                    <a:lumMod val="50000"/>
                  </a:schemeClr>
                </a:solidFill>
                <a:uFill>
                  <a:solidFill>
                    <a:srgbClr val="000000"/>
                  </a:solidFill>
                </a:uFill>
                <a:ea typeface="Arial Unicode MS" panose="020B0604020202020204" pitchFamily="34" charset="-128"/>
              </a:rPr>
              <a:t>Manager, Overseas Wholesale Banks Supervision. Led risk-based supervision of 264 wholesale banking entities and served as Portfolio Lead for overseas wholesale banks. Founding member of the FCA Crypto Committee, providing regulatory oversight and policy input on digital assets, crypto markets, and emerging regulatory frameworks. Led supervisory reviews, regulatory interventions, and engagement with global regulators including the PRA, JFSA, BOJ, and MAS.</a:t>
            </a:r>
            <a:endParaRPr lang="en-GB" sz="850" dirty="0">
              <a:solidFill>
                <a:schemeClr val="accent1">
                  <a:lumMod val="50000"/>
                </a:schemeClr>
              </a:solidFill>
              <a:uFill>
                <a:solidFill>
                  <a:srgbClr val="000000"/>
                </a:solidFill>
              </a:uFill>
              <a:ea typeface="Arial Unicode MS" panose="020B0604020202020204" pitchFamily="34" charset="-128"/>
            </a:endParaRPr>
          </a:p>
          <a:p>
            <a:pPr marL="171450" indent="-171450">
              <a:lnSpc>
                <a:spcPct val="120000"/>
              </a:lnSpc>
              <a:spcAft>
                <a:spcPts val="600"/>
              </a:spcAft>
              <a:buClr>
                <a:srgbClr val="F7931E"/>
              </a:buClr>
              <a:buBlip>
                <a:blip>
                  <a:extLst>
                    <a:ext uri="{96DAC541-7B7A-43D3-8B79-37D633B846F1}">
                      <asvg:svgBlip xmlns:asvg="http://schemas.microsoft.com/office/drawing/2016/SVG/main" r:embed="rId4"/>
                    </a:ext>
                  </a:extLst>
                </a:blip>
              </a:buBlip>
              <a:defRPr/>
            </a:pPr>
            <a:r>
              <a:rPr lang="en-GB" sz="850" b="1" dirty="0">
                <a:solidFill>
                  <a:schemeClr val="accent1">
                    <a:lumMod val="50000"/>
                  </a:schemeClr>
                </a:solidFill>
                <a:uFill>
                  <a:solidFill>
                    <a:srgbClr val="000000"/>
                  </a:solidFill>
                </a:uFill>
                <a:ea typeface="Arial Unicode MS" panose="020B0604020202020204" pitchFamily="34" charset="-128"/>
              </a:rPr>
              <a:t>EY </a:t>
            </a:r>
            <a:r>
              <a:rPr lang="en-GB" sz="850" dirty="0">
                <a:solidFill>
                  <a:schemeClr val="accent1">
                    <a:lumMod val="50000"/>
                  </a:schemeClr>
                </a:solidFill>
                <a:uFill>
                  <a:solidFill>
                    <a:srgbClr val="000000"/>
                  </a:solidFill>
                </a:uFill>
                <a:ea typeface="Arial Unicode MS" panose="020B0604020202020204" pitchFamily="34" charset="-128"/>
              </a:rPr>
              <a:t>– </a:t>
            </a:r>
            <a:r>
              <a:rPr lang="en-US" sz="850" dirty="0">
                <a:solidFill>
                  <a:schemeClr val="accent1">
                    <a:lumMod val="50000"/>
                  </a:schemeClr>
                </a:solidFill>
                <a:uFill>
                  <a:solidFill>
                    <a:srgbClr val="000000"/>
                  </a:solidFill>
                </a:uFill>
                <a:ea typeface="Arial Unicode MS" panose="020B0604020202020204" pitchFamily="34" charset="-128"/>
              </a:rPr>
              <a:t>Senior Manager, Wholesale Banking Transformation. Led risk and regulatory workstreams covering CBDCs, stablecoins, </a:t>
            </a:r>
            <a:r>
              <a:rPr lang="en-US" sz="850" dirty="0" err="1">
                <a:solidFill>
                  <a:schemeClr val="accent1">
                    <a:lumMod val="50000"/>
                  </a:schemeClr>
                </a:solidFill>
                <a:uFill>
                  <a:solidFill>
                    <a:srgbClr val="000000"/>
                  </a:solidFill>
                </a:uFill>
                <a:ea typeface="Arial Unicode MS" panose="020B0604020202020204" pitchFamily="34" charset="-128"/>
              </a:rPr>
              <a:t>tokenisation</a:t>
            </a:r>
            <a:r>
              <a:rPr lang="en-US" sz="850" dirty="0">
                <a:solidFill>
                  <a:schemeClr val="accent1">
                    <a:lumMod val="50000"/>
                  </a:schemeClr>
                </a:solidFill>
                <a:uFill>
                  <a:solidFill>
                    <a:srgbClr val="000000"/>
                  </a:solidFill>
                </a:uFill>
                <a:ea typeface="Arial Unicode MS" panose="020B0604020202020204" pitchFamily="34" charset="-128"/>
              </a:rPr>
              <a:t>, ESG, market structure reform, and wholesale banking transformation, while providing subject matter expertise on governance and regulatory change.</a:t>
            </a:r>
          </a:p>
          <a:p>
            <a:pPr marL="171450" indent="-171450">
              <a:lnSpc>
                <a:spcPct val="120000"/>
              </a:lnSpc>
              <a:spcAft>
                <a:spcPts val="600"/>
              </a:spcAft>
              <a:buClr>
                <a:srgbClr val="F7931E"/>
              </a:buClr>
              <a:buBlip>
                <a:blip>
                  <a:extLst>
                    <a:ext uri="{96DAC541-7B7A-43D3-8B79-37D633B846F1}">
                      <asvg:svgBlip xmlns:asvg="http://schemas.microsoft.com/office/drawing/2016/SVG/main" r:embed="rId4"/>
                    </a:ext>
                  </a:extLst>
                </a:blip>
              </a:buBlip>
              <a:defRPr/>
            </a:pPr>
            <a:r>
              <a:rPr lang="en-US" sz="850" b="1" dirty="0">
                <a:solidFill>
                  <a:schemeClr val="accent1">
                    <a:lumMod val="50000"/>
                  </a:schemeClr>
                </a:solidFill>
                <a:uFill>
                  <a:solidFill>
                    <a:srgbClr val="000000"/>
                  </a:solidFill>
                </a:uFill>
                <a:ea typeface="Arial Unicode MS" panose="020B0604020202020204" pitchFamily="34" charset="-128"/>
              </a:rPr>
              <a:t>Bank of America, Wells Fargo and JPMorgan Chase </a:t>
            </a:r>
            <a:r>
              <a:rPr lang="en-US" sz="850" dirty="0">
                <a:solidFill>
                  <a:schemeClr val="accent1">
                    <a:lumMod val="50000"/>
                  </a:schemeClr>
                </a:solidFill>
                <a:uFill>
                  <a:solidFill>
                    <a:srgbClr val="000000"/>
                  </a:solidFill>
                </a:uFill>
                <a:ea typeface="Arial Unicode MS" panose="020B0604020202020204" pitchFamily="34" charset="-128"/>
              </a:rPr>
              <a:t>– Senior leadership roles in global credit trading and capital markets. Built and managed international trading businesses and teams across London, New York, Hong Kong, Tokyo, and Charlotte, while implementing governance, risk management, and reporting frameworks supporting complex global operations.</a:t>
            </a:r>
            <a:endParaRPr lang="en-GB" sz="850" dirty="0">
              <a:solidFill>
                <a:schemeClr val="accent1">
                  <a:lumMod val="50000"/>
                </a:schemeClr>
              </a:solidFill>
              <a:uFill>
                <a:solidFill>
                  <a:srgbClr val="000000"/>
                </a:solidFill>
              </a:uFill>
              <a:ea typeface="Arial Unicode MS" panose="020B0604020202020204" pitchFamily="34" charset="-128"/>
            </a:endParaRPr>
          </a:p>
        </p:txBody>
      </p:sp>
      <p:sp>
        <p:nvSpPr>
          <p:cNvPr id="9" name="Google Shape;36;p1">
            <a:extLst>
              <a:ext uri="{FF2B5EF4-FFF2-40B4-BE49-F238E27FC236}">
                <a16:creationId xmlns:a16="http://schemas.microsoft.com/office/drawing/2014/main" id="{B0DE083E-76AB-241A-9958-00D8FAC5E105}"/>
              </a:ext>
            </a:extLst>
          </p:cNvPr>
          <p:cNvSpPr txBox="1">
            <a:spLocks noGrp="1" noRot="1" noMove="1" noResize="1" noEditPoints="1" noAdjustHandles="1" noChangeArrowheads="1" noChangeShapeType="1"/>
          </p:cNvSpPr>
          <p:nvPr/>
        </p:nvSpPr>
        <p:spPr>
          <a:xfrm>
            <a:off x="9227147" y="2368768"/>
            <a:ext cx="2208606" cy="3739485"/>
          </a:xfrm>
          <a:prstGeom prst="rect">
            <a:avLst/>
          </a:prstGeom>
          <a:noFill/>
          <a:ln>
            <a:noFill/>
          </a:ln>
        </p:spPr>
        <p:txBody>
          <a:bodyPr spcFirstLastPara="1" wrap="square" lIns="0" tIns="0" rIns="0" bIns="0" anchor="t" anchorCtr="0">
            <a:spAutoFit/>
          </a:bodyPr>
          <a:lstStyle/>
          <a:p>
            <a:pPr>
              <a:lnSpc>
                <a:spcPct val="120000"/>
              </a:lnSpc>
              <a:spcAft>
                <a:spcPts val="900"/>
              </a:spcAft>
            </a:pPr>
            <a:r>
              <a:rPr lang="en-US" sz="100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Eric served as a founding member of the FCA Crypto Committee and is </a:t>
            </a:r>
            <a:r>
              <a:rPr lang="en-US" sz="1000" dirty="0" err="1">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recognised</a:t>
            </a:r>
            <a:r>
              <a:rPr lang="en-US" sz="100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 as a trusted advisor to boards, regulators, and executive leadership teams. His career has focused on helping </a:t>
            </a:r>
            <a:r>
              <a:rPr lang="en-US" sz="1000" dirty="0" err="1">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organisations</a:t>
            </a:r>
            <a:r>
              <a:rPr lang="en-US" sz="100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 navigate regulatory change, strengthen governance and risk frameworks, and safely adopt emerging technologies in increasingly complex operating environments.  </a:t>
            </a:r>
          </a:p>
          <a:p>
            <a:pPr>
              <a:lnSpc>
                <a:spcPct val="120000"/>
              </a:lnSpc>
              <a:spcAft>
                <a:spcPts val="900"/>
              </a:spcAft>
            </a:pPr>
            <a:r>
              <a:rPr lang="en-US" sz="100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Alongside his executive and advisory career, Eric also advises innovative technology businesses including </a:t>
            </a:r>
            <a:r>
              <a:rPr lang="en-US" sz="1000" dirty="0" err="1">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Kithe</a:t>
            </a:r>
            <a:r>
              <a:rPr lang="en-US" sz="100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rPr>
              <a:t> Technologies, an innovative platform to support children and adults across a broad spectrum of neurodiversity.</a:t>
            </a:r>
            <a:endParaRPr lang="en-GB" sz="1000" dirty="0">
              <a:solidFill>
                <a:schemeClr val="accent1">
                  <a:lumMod val="50000"/>
                </a:schemeClr>
              </a:solidFill>
              <a:uFill>
                <a:solidFill>
                  <a:srgbClr val="000000"/>
                </a:solidFill>
              </a:uFill>
              <a:ea typeface="Arial Unicode MS" panose="020B0604020202020204" pitchFamily="34" charset="-128"/>
              <a:cs typeface="Arial Unicode MS" panose="020B0604020202020204" pitchFamily="34" charset="-128"/>
            </a:endParaRPr>
          </a:p>
        </p:txBody>
      </p:sp>
      <p:sp>
        <p:nvSpPr>
          <p:cNvPr id="10" name="TextBox 9">
            <a:extLst>
              <a:ext uri="{FF2B5EF4-FFF2-40B4-BE49-F238E27FC236}">
                <a16:creationId xmlns:a16="http://schemas.microsoft.com/office/drawing/2014/main" id="{259B6EC9-8DF3-C858-5D94-A6FD925E3D91}"/>
              </a:ext>
            </a:extLst>
          </p:cNvPr>
          <p:cNvSpPr txBox="1">
            <a:spLocks noGrp="1" noRot="1" noMove="1" noResize="1" noEditPoints="1" noAdjustHandles="1" noChangeArrowheads="1" noChangeShapeType="1"/>
          </p:cNvSpPr>
          <p:nvPr/>
        </p:nvSpPr>
        <p:spPr>
          <a:xfrm>
            <a:off x="516759" y="563201"/>
            <a:ext cx="4113753" cy="419443"/>
          </a:xfrm>
          <a:prstGeom prst="rect">
            <a:avLst/>
          </a:prstGeom>
          <a:noFill/>
        </p:spPr>
        <p:txBody>
          <a:bodyPr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Raleway" pitchFamily="2" charset="77"/>
                <a:ea typeface="+mn-ea"/>
                <a:cs typeface="Algerian" panose="020F0502020204030204" pitchFamily="34" charset="0"/>
              </a:rPr>
              <a:t>Advisory Profile</a:t>
            </a:r>
          </a:p>
        </p:txBody>
      </p:sp>
      <p:sp>
        <p:nvSpPr>
          <p:cNvPr id="11" name="TextBox 10">
            <a:extLst>
              <a:ext uri="{FF2B5EF4-FFF2-40B4-BE49-F238E27FC236}">
                <a16:creationId xmlns:a16="http://schemas.microsoft.com/office/drawing/2014/main" id="{7423C360-BFCE-E6F0-3D81-21DFAFED819C}"/>
              </a:ext>
            </a:extLst>
          </p:cNvPr>
          <p:cNvSpPr txBox="1">
            <a:spLocks noGrp="1" noRot="1" noMove="1" noResize="1" noEditPoints="1" noAdjustHandles="1" noChangeArrowheads="1" noChangeShapeType="1"/>
          </p:cNvSpPr>
          <p:nvPr/>
        </p:nvSpPr>
        <p:spPr>
          <a:xfrm>
            <a:off x="756247" y="3724418"/>
            <a:ext cx="2241802" cy="1913278"/>
          </a:xfrm>
          <a:prstGeom prst="rect">
            <a:avLst/>
          </a:prstGeom>
          <a:noFill/>
        </p:spPr>
        <p:txBody>
          <a:bodyPr wrap="square" lIns="0" tIns="0" rIns="0" bIns="0" rtlCol="0">
            <a:noAutofit/>
          </a:bodyPr>
          <a:lstStyle/>
          <a:p>
            <a:pPr marL="0" marR="0" lvl="0" indent="0" algn="l" defTabSz="914400" rtl="0" eaLnBrk="1" fontAlgn="auto" latinLnBrk="0" hangingPunct="1">
              <a:lnSpc>
                <a:spcPct val="120000"/>
              </a:lnSpc>
              <a:spcBef>
                <a:spcPts val="600"/>
              </a:spcBef>
              <a:spcAft>
                <a:spcPts val="0"/>
              </a:spcAft>
              <a:buClrTx/>
              <a:buSzTx/>
              <a:buFontTx/>
              <a:buNone/>
              <a:tabLst/>
              <a:defRPr/>
            </a:pPr>
            <a:r>
              <a:rPr kumimoji="0" lang="en-GB" sz="1000" b="1"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rPr>
              <a:t>Technical Skills: </a:t>
            </a:r>
          </a:p>
          <a:p>
            <a:pPr marL="171450" marR="0" lvl="0" indent="-171450" algn="l" defTabSz="914400" rtl="0" eaLnBrk="1" fontAlgn="auto" latinLnBrk="0" hangingPunct="1">
              <a:lnSpc>
                <a:spcPct val="120000"/>
              </a:lnSpc>
              <a:spcBef>
                <a:spcPts val="0"/>
              </a:spcBef>
              <a:spcAft>
                <a:spcPts val="0"/>
              </a:spcAft>
              <a:buClr>
                <a:srgbClr val="27C3F3"/>
              </a:buClr>
              <a:buSzTx/>
              <a:buFontTx/>
              <a:buBlip>
                <a:blip>
                  <a:extLst>
                    <a:ext uri="{96DAC541-7B7A-43D3-8B79-37D633B846F1}">
                      <asvg:svgBlip xmlns:asvg="http://schemas.microsoft.com/office/drawing/2016/SVG/main" r:embed="rId4"/>
                    </a:ext>
                  </a:extLst>
                </a:blip>
              </a:buBlip>
              <a:tabLst/>
              <a:defRPr/>
            </a:pPr>
            <a:r>
              <a:rPr lang="en-GB" sz="1000" dirty="0">
                <a:solidFill>
                  <a:schemeClr val="accent1">
                    <a:lumMod val="50000"/>
                  </a:schemeClr>
                </a:solidFill>
                <a:latin typeface="Raleway" pitchFamily="2" charset="77"/>
                <a:cs typeface="Algerian" panose="020F0502020204030204" pitchFamily="34" charset="0"/>
              </a:rPr>
              <a:t>Digital Asset, Crypto &amp; Tokenisation Regulation</a:t>
            </a:r>
          </a:p>
          <a:p>
            <a:pPr marL="171450" marR="0" lvl="0" indent="-171450" algn="l" defTabSz="914400" rtl="0" eaLnBrk="1" fontAlgn="auto" latinLnBrk="0" hangingPunct="1">
              <a:lnSpc>
                <a:spcPct val="120000"/>
              </a:lnSpc>
              <a:spcBef>
                <a:spcPts val="0"/>
              </a:spcBef>
              <a:spcAft>
                <a:spcPts val="0"/>
              </a:spcAft>
              <a:buClr>
                <a:srgbClr val="27C3F3"/>
              </a:buClr>
              <a:buSzTx/>
              <a:buFontTx/>
              <a:buBlip>
                <a:blip>
                  <a:extLst>
                    <a:ext uri="{96DAC541-7B7A-43D3-8B79-37D633B846F1}">
                      <asvg:svgBlip xmlns:asvg="http://schemas.microsoft.com/office/drawing/2016/SVG/main" r:embed="rId4"/>
                    </a:ext>
                  </a:extLst>
                </a:blip>
              </a:buBlip>
              <a:tabLst/>
              <a:defRPr/>
            </a:pPr>
            <a:r>
              <a:rPr lang="en-GB" sz="1000" dirty="0">
                <a:solidFill>
                  <a:schemeClr val="accent1">
                    <a:lumMod val="50000"/>
                  </a:schemeClr>
                </a:solidFill>
                <a:latin typeface="Raleway" pitchFamily="2" charset="77"/>
                <a:cs typeface="Algerian" panose="020F0502020204030204" pitchFamily="34" charset="0"/>
              </a:rPr>
              <a:t>Enterprise Risk Management &amp; Governance</a:t>
            </a:r>
          </a:p>
          <a:p>
            <a:pPr marL="171450" marR="0" lvl="0" indent="-171450" algn="l" defTabSz="914400" rtl="0" eaLnBrk="1" fontAlgn="auto" latinLnBrk="0" hangingPunct="1">
              <a:lnSpc>
                <a:spcPct val="120000"/>
              </a:lnSpc>
              <a:spcBef>
                <a:spcPts val="0"/>
              </a:spcBef>
              <a:spcAft>
                <a:spcPts val="0"/>
              </a:spcAft>
              <a:buClr>
                <a:srgbClr val="27C3F3"/>
              </a:buClr>
              <a:buSzTx/>
              <a:buFontTx/>
              <a:buBlip>
                <a:blip>
                  <a:extLst>
                    <a:ext uri="{96DAC541-7B7A-43D3-8B79-37D633B846F1}">
                      <asvg:svgBlip xmlns:asvg="http://schemas.microsoft.com/office/drawing/2016/SVG/main" r:embed="rId4"/>
                    </a:ext>
                  </a:extLst>
                </a:blip>
              </a:buBlip>
              <a:tabLst/>
              <a:defRPr/>
            </a:pPr>
            <a:r>
              <a:rPr lang="en-GB" sz="1000" dirty="0">
                <a:solidFill>
                  <a:schemeClr val="accent1">
                    <a:lumMod val="50000"/>
                  </a:schemeClr>
                </a:solidFill>
                <a:latin typeface="Raleway" pitchFamily="2" charset="77"/>
                <a:cs typeface="Algerian" panose="020F0502020204030204" pitchFamily="34" charset="0"/>
              </a:rPr>
              <a:t>AML/CFT &amp; Financial Crime Compliance</a:t>
            </a:r>
          </a:p>
          <a:p>
            <a:pPr marR="0" lvl="0" algn="l" defTabSz="914400" rtl="0" eaLnBrk="1" fontAlgn="auto" latinLnBrk="0" hangingPunct="1">
              <a:lnSpc>
                <a:spcPct val="120000"/>
              </a:lnSpc>
              <a:spcBef>
                <a:spcPts val="0"/>
              </a:spcBef>
              <a:spcAft>
                <a:spcPts val="0"/>
              </a:spcAft>
              <a:buClr>
                <a:srgbClr val="27C3F3"/>
              </a:buClr>
              <a:buSzTx/>
              <a:tabLst/>
              <a:defRPr/>
            </a:pPr>
            <a:r>
              <a:rPr kumimoji="0" lang="en-GB" sz="1000" b="1"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rPr>
              <a:t>Qualifications: </a:t>
            </a: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rPr>
              <a:t>Advanced Certified Financial Crime Specialist (ACFCS)</a:t>
            </a:r>
            <a:endParaRPr kumimoji="0" lang="en-GB" sz="1000" b="0"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endParaRPr>
          </a:p>
          <a:p>
            <a:pPr marL="171450" marR="0" lvl="0" indent="-1714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rPr>
              <a:t>Certification in Cryptocurrency, Blockchain and Disruption (LSE)</a:t>
            </a:r>
            <a:endParaRPr kumimoji="0" lang="en-GB" sz="1000" b="0"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chemeClr val="accent1">
                  <a:lumMod val="50000"/>
                </a:schemeClr>
              </a:solidFill>
              <a:effectLst/>
              <a:uLnTx/>
              <a:uFillTx/>
              <a:latin typeface="Raleway" pitchFamily="2" charset="77"/>
              <a:ea typeface="+mn-ea"/>
              <a:cs typeface="Algerian" panose="020F0502020204030204" pitchFamily="34" charset="0"/>
            </a:endParaRPr>
          </a:p>
        </p:txBody>
      </p:sp>
      <p:sp>
        <p:nvSpPr>
          <p:cNvPr id="12" name="TextBox 11">
            <a:extLst>
              <a:ext uri="{FF2B5EF4-FFF2-40B4-BE49-F238E27FC236}">
                <a16:creationId xmlns:a16="http://schemas.microsoft.com/office/drawing/2014/main" id="{2A2E0642-D15F-4180-C5EE-434A9740BBCE}"/>
              </a:ext>
            </a:extLst>
          </p:cNvPr>
          <p:cNvSpPr txBox="1"/>
          <p:nvPr/>
        </p:nvSpPr>
        <p:spPr>
          <a:xfrm>
            <a:off x="5562600" y="647700"/>
            <a:ext cx="2114550" cy="334944"/>
          </a:xfrm>
          <a:prstGeom prst="rect">
            <a:avLst/>
          </a:prstGeom>
          <a:noFill/>
        </p:spPr>
        <p:txBody>
          <a:bodyPr wrap="none" lIns="0" tIns="0" rIns="0" bIns="0" rtlCol="0">
            <a:noAutofit/>
          </a:bodyPr>
          <a:lstStyle/>
          <a:p>
            <a:pPr algn="l">
              <a:lnSpc>
                <a:spcPct val="100000"/>
              </a:lnSpc>
              <a:spcBef>
                <a:spcPts val="0"/>
              </a:spcBef>
              <a:spcAft>
                <a:spcPts val="0"/>
              </a:spcAft>
            </a:pPr>
            <a:r>
              <a:rPr lang="en-GB" sz="2000" b="1" i="0" dirty="0">
                <a:solidFill>
                  <a:srgbClr val="FF0000"/>
                </a:solidFill>
                <a:effectLst/>
                <a:latin typeface="Raleway" pitchFamily="2" charset="77"/>
                <a:cs typeface="Algerian" panose="020F0502020204030204" pitchFamily="34" charset="0"/>
              </a:rPr>
              <a:t>SAMPLE PROFILE</a:t>
            </a:r>
          </a:p>
        </p:txBody>
      </p:sp>
    </p:spTree>
    <p:extLst>
      <p:ext uri="{BB962C8B-B14F-4D97-AF65-F5344CB8AC3E}">
        <p14:creationId xmlns:p14="http://schemas.microsoft.com/office/powerpoint/2010/main" val="20334723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ags/tag2.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SH">
  <a:themeElements>
    <a:clrScheme name="Sheffield Haworth">
      <a:dk1>
        <a:srgbClr val="222229"/>
      </a:dk1>
      <a:lt1>
        <a:srgbClr val="FFFFFF"/>
      </a:lt1>
      <a:dk2>
        <a:srgbClr val="2C2E82"/>
      </a:dk2>
      <a:lt2>
        <a:srgbClr val="F2F2F2"/>
      </a:lt2>
      <a:accent1>
        <a:srgbClr val="2C2F82"/>
      </a:accent1>
      <a:accent2>
        <a:srgbClr val="27C3F3"/>
      </a:accent2>
      <a:accent3>
        <a:srgbClr val="00798E"/>
      </a:accent3>
      <a:accent4>
        <a:srgbClr val="4D2DCF"/>
      </a:accent4>
      <a:accent5>
        <a:srgbClr val="8771E0"/>
      </a:accent5>
      <a:accent6>
        <a:srgbClr val="F2F2F2"/>
      </a:accent6>
      <a:hlink>
        <a:srgbClr val="4D2DCF"/>
      </a:hlink>
      <a:folHlink>
        <a:srgbClr val="FFFFFF"/>
      </a:folHlink>
    </a:clrScheme>
    <a:fontScheme name="SH">
      <a:majorFont>
        <a:latin typeface="Ralew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lnSpc>
            <a:spcPct val="100000"/>
          </a:lnSpc>
          <a:spcBef>
            <a:spcPts val="0"/>
          </a:spcBef>
          <a:spcAft>
            <a:spcPts val="0"/>
          </a:spcAft>
          <a:defRPr b="0" i="0" dirty="0" smtClean="0">
            <a:solidFill>
              <a:srgbClr val="FFFFFF"/>
            </a:solidFill>
            <a:effectLst/>
            <a:latin typeface="Raleway" pitchFamily="2" charset="77"/>
            <a:cs typeface="Algerian" panose="020F0502020204030204" pitchFamily="34" charset="0"/>
          </a:defRPr>
        </a:defPPr>
      </a:lstStyle>
    </a:txDef>
  </a:objectDefaults>
  <a:extraClrSchemeLst/>
  <a:extLst>
    <a:ext uri="{05A4C25C-085E-4340-85A3-A5531E510DB2}">
      <thm15:themeFamily xmlns:thm15="http://schemas.microsoft.com/office/thememl/2012/main" name="SH" id="{C408DEA9-61A8-A84A-8D2C-1D4CC1DAA581}" vid="{B105B99D-E812-5C4C-B489-DB1217BE75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7FFB6FF68DCC84EAE8C450D4F92DBA7" ma:contentTypeVersion="23" ma:contentTypeDescription="Create a new document." ma:contentTypeScope="" ma:versionID="caab023a7fb5c222ed58ca0ceeefc38e">
  <xsd:schema xmlns:xsd="http://www.w3.org/2001/XMLSchema" xmlns:xs="http://www.w3.org/2001/XMLSchema" xmlns:p="http://schemas.microsoft.com/office/2006/metadata/properties" xmlns:ns2="8fe6d124-157e-4db3-accf-90154e53f67d" xmlns:ns3="0aa8f75c-e048-48b3-a198-a76b6066dc3e" targetNamespace="http://schemas.microsoft.com/office/2006/metadata/properties" ma:root="true" ma:fieldsID="1df5c284c74c0923247d0c8b39fa6ac5" ns2:_="" ns3:_="">
    <xsd:import namespace="8fe6d124-157e-4db3-accf-90154e53f67d"/>
    <xsd:import namespace="0aa8f75c-e048-48b3-a198-a76b6066dc3e"/>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lcf76f155ced4ddcb4097134ff3c332f" minOccurs="0"/>
                <xsd:element ref="ns2:TaxCatchAll" minOccurs="0"/>
                <xsd:element ref="ns3:MediaServiceObjectDetectorVersions" minOccurs="0"/>
                <xsd:element ref="ns3:MediaServiceSearchPropertie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e6d124-157e-4db3-accf-90154e53f67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element name="TaxCatchAll" ma:index="24" nillable="true" ma:displayName="Taxonomy Catch All Column" ma:hidden="true" ma:list="{40df0fcf-db67-4e06-9d0f-dfbf04ac3be6}" ma:internalName="TaxCatchAll" ma:showField="CatchAllData" ma:web="8fe6d124-157e-4db3-accf-90154e53f67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aa8f75c-e048-48b3-a198-a76b6066dc3e"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AutoTags" ma:index="14" nillable="true" ma:displayName="MediaServiceAutoTags" ma:description="" ma:internalName="MediaServiceAutoTags"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497af4df-0819-45cf-861e-f6122f4a94f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LengthInSeconds" ma:index="2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8fe6d124-157e-4db3-accf-90154e53f67d">
      <UserInfo>
        <DisplayName>Chris Kapsalis</DisplayName>
        <AccountId>83</AccountId>
        <AccountType/>
      </UserInfo>
      <UserInfo>
        <DisplayName>Adriaan Hugo</DisplayName>
        <AccountId>63</AccountId>
        <AccountType/>
      </UserInfo>
      <UserInfo>
        <DisplayName>Emily Clark</DisplayName>
        <AccountId>136</AccountId>
        <AccountType/>
      </UserInfo>
      <UserInfo>
        <DisplayName>Toby Enstone</DisplayName>
        <AccountId>87</AccountId>
        <AccountType/>
      </UserInfo>
    </SharedWithUsers>
    <TaxCatchAll xmlns="8fe6d124-157e-4db3-accf-90154e53f67d" xsi:nil="true"/>
    <lcf76f155ced4ddcb4097134ff3c332f xmlns="0aa8f75c-e048-48b3-a198-a76b6066dc3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717D46E-D190-494F-A114-924A2A0D19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e6d124-157e-4db3-accf-90154e53f67d"/>
    <ds:schemaRef ds:uri="0aa8f75c-e048-48b3-a198-a76b6066dc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6BABFC-641A-49C3-9D13-499712C87DAF}">
  <ds:schemaRefs>
    <ds:schemaRef ds:uri="http://purl.org/dc/terms/"/>
    <ds:schemaRef ds:uri="http://www.w3.org/XML/1998/namespace"/>
    <ds:schemaRef ds:uri="http://schemas.microsoft.com/office/2006/documentManagement/types"/>
    <ds:schemaRef ds:uri="http://schemas.openxmlformats.org/package/2006/metadata/core-properties"/>
    <ds:schemaRef ds:uri="http://schemas.microsoft.com/office/2006/metadata/properties"/>
    <ds:schemaRef ds:uri="8fe6d124-157e-4db3-accf-90154e53f67d"/>
    <ds:schemaRef ds:uri="http://purl.org/dc/elements/1.1/"/>
    <ds:schemaRef ds:uri="http://schemas.microsoft.com/office/infopath/2007/PartnerControls"/>
    <ds:schemaRef ds:uri="0aa8f75c-e048-48b3-a198-a76b6066dc3e"/>
    <ds:schemaRef ds:uri="http://purl.org/dc/dcmitype/"/>
  </ds:schemaRefs>
</ds:datastoreItem>
</file>

<file path=customXml/itemProps3.xml><?xml version="1.0" encoding="utf-8"?>
<ds:datastoreItem xmlns:ds="http://schemas.openxmlformats.org/officeDocument/2006/customXml" ds:itemID="{2AEABEF3-214C-490F-9B30-301C49BB922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688</Words>
  <Application>Microsoft Office PowerPoint</Application>
  <PresentationFormat>Widescreen</PresentationFormat>
  <Paragraphs>42</Paragraphs>
  <Slides>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vt:i4>
      </vt:variant>
    </vt:vector>
  </HeadingPairs>
  <TitlesOfParts>
    <vt:vector size="11" baseType="lpstr">
      <vt:lpstr>Arial</vt:lpstr>
      <vt:lpstr>Arial Unicode MS</vt:lpstr>
      <vt:lpstr>Calibri</vt:lpstr>
      <vt:lpstr>Libre Franklin</vt:lpstr>
      <vt:lpstr>Raleway</vt:lpstr>
      <vt:lpstr>Raleway Black</vt:lpstr>
      <vt:lpstr>Raleway Light</vt:lpstr>
      <vt:lpstr>Raleway Medium</vt:lpstr>
      <vt:lpstr>SH</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Maria Merkou</dc:creator>
  <cp:lastModifiedBy>Seal Llego</cp:lastModifiedBy>
  <cp:revision>7</cp:revision>
  <cp:lastPrinted>2024-09-05T12:07:17Z</cp:lastPrinted>
  <dcterms:created xsi:type="dcterms:W3CDTF">2023-08-14T16:03:23Z</dcterms:created>
  <dcterms:modified xsi:type="dcterms:W3CDTF">2026-07-14T13:05:09Z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0x01010087FFB6FF68DCC84EAE8C450D4F92DBA7</vt:lpwstr>
  </property>
  <property fmtid="{D5CDD505-2E9C-101B-9397-08002B2CF9AE}" pid="3" name="MediaServiceImageTags">
    <vt:lpwstr/>
  </property>
</Properties>
</file>